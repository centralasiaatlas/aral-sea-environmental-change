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914400" y="1122363"/>
            <a:ext cx="103632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1200"/>
              <a:buNone/>
              <a:defRPr sz="1200"/>
            </a:lvl1pPr>
            <a:lvl2pPr lvl="1" algn="ctr">
              <a:lnSpc>
                <a:spcPct val="90000"/>
              </a:lnSpc>
              <a:spcBef>
                <a:spcPts val="500"/>
              </a:spcBef>
              <a:spcAft>
                <a:spcPts val="0"/>
              </a:spcAft>
              <a:buClr>
                <a:schemeClr val="dk1"/>
              </a:buClr>
              <a:buSzPts val="1000"/>
              <a:buNone/>
              <a:defRPr sz="1000"/>
            </a:lvl2pPr>
            <a:lvl3pPr lvl="2" algn="ctr">
              <a:lnSpc>
                <a:spcPct val="90000"/>
              </a:lnSpc>
              <a:spcBef>
                <a:spcPts val="500"/>
              </a:spcBef>
              <a:spcAft>
                <a:spcPts val="0"/>
              </a:spcAft>
              <a:buClr>
                <a:schemeClr val="dk1"/>
              </a:buClr>
              <a:buSzPts val="900"/>
              <a:buNone/>
              <a:defRPr sz="900"/>
            </a:lvl3pPr>
            <a:lvl4pPr lvl="3" algn="ctr">
              <a:lnSpc>
                <a:spcPct val="90000"/>
              </a:lnSpc>
              <a:spcBef>
                <a:spcPts val="500"/>
              </a:spcBef>
              <a:spcAft>
                <a:spcPts val="0"/>
              </a:spcAft>
              <a:buClr>
                <a:schemeClr val="dk1"/>
              </a:buClr>
              <a:buSzPts val="800"/>
              <a:buNone/>
              <a:defRPr sz="800"/>
            </a:lvl4pPr>
            <a:lvl5pPr lvl="4" algn="ctr">
              <a:lnSpc>
                <a:spcPct val="90000"/>
              </a:lnSpc>
              <a:spcBef>
                <a:spcPts val="500"/>
              </a:spcBef>
              <a:spcAft>
                <a:spcPts val="0"/>
              </a:spcAft>
              <a:buClr>
                <a:schemeClr val="dk1"/>
              </a:buClr>
              <a:buSzPts val="800"/>
              <a:buNone/>
              <a:defRPr sz="800"/>
            </a:lvl5pPr>
            <a:lvl6pPr lvl="5" algn="ctr">
              <a:lnSpc>
                <a:spcPct val="90000"/>
              </a:lnSpc>
              <a:spcBef>
                <a:spcPts val="500"/>
              </a:spcBef>
              <a:spcAft>
                <a:spcPts val="0"/>
              </a:spcAft>
              <a:buClr>
                <a:schemeClr val="dk1"/>
              </a:buClr>
              <a:buSzPts val="800"/>
              <a:buNone/>
              <a:defRPr sz="800"/>
            </a:lvl6pPr>
            <a:lvl7pPr lvl="6" algn="ctr">
              <a:lnSpc>
                <a:spcPct val="90000"/>
              </a:lnSpc>
              <a:spcBef>
                <a:spcPts val="500"/>
              </a:spcBef>
              <a:spcAft>
                <a:spcPts val="0"/>
              </a:spcAft>
              <a:buClr>
                <a:schemeClr val="dk1"/>
              </a:buClr>
              <a:buSzPts val="800"/>
              <a:buNone/>
              <a:defRPr sz="800"/>
            </a:lvl7pPr>
            <a:lvl8pPr lvl="7" algn="ctr">
              <a:lnSpc>
                <a:spcPct val="90000"/>
              </a:lnSpc>
              <a:spcBef>
                <a:spcPts val="500"/>
              </a:spcBef>
              <a:spcAft>
                <a:spcPts val="0"/>
              </a:spcAft>
              <a:buClr>
                <a:schemeClr val="dk1"/>
              </a:buClr>
              <a:buSzPts val="800"/>
              <a:buNone/>
              <a:defRPr sz="800"/>
            </a:lvl8pPr>
            <a:lvl9pPr lvl="8" algn="ctr">
              <a:lnSpc>
                <a:spcPct val="90000"/>
              </a:lnSpc>
              <a:spcBef>
                <a:spcPts val="500"/>
              </a:spcBef>
              <a:spcAft>
                <a:spcPts val="0"/>
              </a:spcAft>
              <a:buClr>
                <a:schemeClr val="dk1"/>
              </a:buClr>
              <a:buSzPts val="800"/>
              <a:buNone/>
              <a:defRPr sz="8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5183188" y="987425"/>
            <a:ext cx="6172200" cy="4873625"/>
          </a:xfrm>
          <a:prstGeom prst="rect">
            <a:avLst/>
          </a:prstGeom>
          <a:noFill/>
          <a:ln>
            <a:noFill/>
          </a:ln>
        </p:spPr>
      </p:sp>
      <p:sp>
        <p:nvSpPr>
          <p:cNvPr id="68" name="Google Shape;68;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jpg"/><Relationship Id="rId5" Type="http://schemas.openxmlformats.org/officeDocument/2006/relationships/image" Target="../media/image4.jpg"/><Relationship Id="rId6" Type="http://schemas.openxmlformats.org/officeDocument/2006/relationships/image" Target="../media/image6.jpg"/><Relationship Id="rId7"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5.jp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0.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24.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0.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4.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hyperlink" Target="http://www.youtube.com/watch?v=9zxW3tXV-tE" TargetMode="External"/><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hyperlink" Target="http://www.youtube.com/watch?v=9zxW3tXV-tE" TargetMode="External"/><Relationship Id="rId5"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hyperlink" Target="https://www.bbc.com/news/business-44159122" TargetMode="External"/><Relationship Id="rId5" Type="http://schemas.openxmlformats.org/officeDocument/2006/relationships/hyperlink" Target="https://www.esri.com/training/catalog/5c75869c65e21d6e2187b712/performing-supervised-pixel-based-image-classification/" TargetMode="External"/><Relationship Id="rId6" Type="http://schemas.openxmlformats.org/officeDocument/2006/relationships/hyperlink" Target="https://glovis.usgs.gov/app?fullscreen=0" TargetMode="External"/><Relationship Id="rId7" Type="http://schemas.openxmlformats.org/officeDocument/2006/relationships/hyperlink" Target="https://eurasianet.org/northern-arals-promise-stunted-by-dam-height-international-disputes" TargetMode="External"/></Relationships>
</file>

<file path=ppt/slides/_rels/slide18.xml.rels><?xml version="1.0" encoding="UTF-8" standalone="yes"?><Relationships xmlns="http://schemas.openxmlformats.org/package/2006/relationships"><Relationship Id="rId11" Type="http://schemas.openxmlformats.org/officeDocument/2006/relationships/image" Target="../media/image40.jpg"/><Relationship Id="rId10" Type="http://schemas.openxmlformats.org/officeDocument/2006/relationships/image" Target="../media/image38.jpg"/><Relationship Id="rId13" Type="http://schemas.openxmlformats.org/officeDocument/2006/relationships/image" Target="../media/image42.jpg"/><Relationship Id="rId12" Type="http://schemas.openxmlformats.org/officeDocument/2006/relationships/image" Target="../media/image45.jp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9.jpg"/><Relationship Id="rId4" Type="http://schemas.openxmlformats.org/officeDocument/2006/relationships/image" Target="../media/image31.png"/><Relationship Id="rId9" Type="http://schemas.openxmlformats.org/officeDocument/2006/relationships/image" Target="../media/image41.jpg"/><Relationship Id="rId15" Type="http://schemas.openxmlformats.org/officeDocument/2006/relationships/image" Target="../media/image27.png"/><Relationship Id="rId14" Type="http://schemas.openxmlformats.org/officeDocument/2006/relationships/image" Target="../media/image26.png"/><Relationship Id="rId17" Type="http://schemas.openxmlformats.org/officeDocument/2006/relationships/image" Target="../media/image20.png"/><Relationship Id="rId16" Type="http://schemas.openxmlformats.org/officeDocument/2006/relationships/image" Target="../media/image12.png"/><Relationship Id="rId5" Type="http://schemas.openxmlformats.org/officeDocument/2006/relationships/image" Target="../media/image7.png"/><Relationship Id="rId19" Type="http://schemas.openxmlformats.org/officeDocument/2006/relationships/image" Target="../media/image44.png"/><Relationship Id="rId6" Type="http://schemas.openxmlformats.org/officeDocument/2006/relationships/image" Target="../media/image10.png"/><Relationship Id="rId18" Type="http://schemas.openxmlformats.org/officeDocument/2006/relationships/image" Target="../media/image11.png"/><Relationship Id="rId7" Type="http://schemas.openxmlformats.org/officeDocument/2006/relationships/image" Target="../media/image4.jpg"/><Relationship Id="rId8"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Increased evaporation, coupled with reduced groundwater inflow and precipitation, has led to the foaming of water.  (Photographs: Neha Mungekar)" id="88" name="Google Shape;88;p14"/>
          <p:cNvPicPr preferRelativeResize="0"/>
          <p:nvPr/>
        </p:nvPicPr>
        <p:blipFill rotWithShape="1">
          <a:blip r:embed="rId3">
            <a:alphaModFix/>
          </a:blip>
          <a:srcRect b="0" l="0" r="0" t="0"/>
          <a:stretch/>
        </p:blipFill>
        <p:spPr>
          <a:xfrm>
            <a:off x="9331" y="18662"/>
            <a:ext cx="12191999" cy="6858000"/>
          </a:xfrm>
          <a:prstGeom prst="rect">
            <a:avLst/>
          </a:prstGeom>
          <a:noFill/>
          <a:ln>
            <a:noFill/>
          </a:ln>
        </p:spPr>
      </p:pic>
      <p:sp>
        <p:nvSpPr>
          <p:cNvPr id="89" name="Google Shape;89;p14"/>
          <p:cNvSpPr txBox="1"/>
          <p:nvPr/>
        </p:nvSpPr>
        <p:spPr>
          <a:xfrm>
            <a:off x="280219" y="0"/>
            <a:ext cx="11631561"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chemeClr val="dk1"/>
                </a:solidFill>
                <a:latin typeface="Calibri"/>
                <a:ea typeface="Calibri"/>
                <a:cs typeface="Calibri"/>
                <a:sym typeface="Calibri"/>
              </a:rPr>
              <a:t>Raster GIS Analysis for Monitoring Change in Coastline- North Aral Sea, Kazakhstan</a:t>
            </a:r>
            <a:endParaRPr/>
          </a:p>
          <a:p>
            <a:pPr indent="0" lvl="0" marL="0" marR="0" rtl="0" algn="ctr">
              <a:spcBef>
                <a:spcPts val="0"/>
              </a:spcBef>
              <a:spcAft>
                <a:spcPts val="0"/>
              </a:spcAft>
              <a:buNone/>
            </a:pPr>
            <a:r>
              <a:rPr b="1" i="0" lang="en-US" sz="2400" u="none" cap="none" strike="noStrike">
                <a:solidFill>
                  <a:schemeClr val="dk1"/>
                </a:solidFill>
                <a:latin typeface="Calibri"/>
                <a:ea typeface="Calibri"/>
                <a:cs typeface="Calibri"/>
                <a:sym typeface="Calibri"/>
              </a:rPr>
              <a:t>Tariq Haniff, Columbia College, GEOG-70 , F 2021</a:t>
            </a:r>
            <a:endParaRPr b="1" i="0" sz="3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Increased evaporation, coupled with reduced groundwater inflow and precipitation, has led to the foaming of water.  (Photographs: Neha Mungekar)" id="94" name="Google Shape;94;p15"/>
          <p:cNvPicPr preferRelativeResize="0"/>
          <p:nvPr/>
        </p:nvPicPr>
        <p:blipFill rotWithShape="1">
          <a:blip r:embed="rId3">
            <a:alphaModFix amt="19000"/>
          </a:blip>
          <a:srcRect b="0" l="0" r="0" t="0"/>
          <a:stretch/>
        </p:blipFill>
        <p:spPr>
          <a:xfrm>
            <a:off x="0" y="0"/>
            <a:ext cx="12191999" cy="6858000"/>
          </a:xfrm>
          <a:prstGeom prst="rect">
            <a:avLst/>
          </a:prstGeom>
          <a:noFill/>
          <a:ln>
            <a:noFill/>
          </a:ln>
        </p:spPr>
      </p:pic>
      <p:sp>
        <p:nvSpPr>
          <p:cNvPr id="95" name="Google Shape;95;p15"/>
          <p:cNvSpPr txBox="1"/>
          <p:nvPr/>
        </p:nvSpPr>
        <p:spPr>
          <a:xfrm>
            <a:off x="280219" y="0"/>
            <a:ext cx="11631561" cy="38164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sng" cap="none" strike="noStrike">
                <a:solidFill>
                  <a:schemeClr val="dk1"/>
                </a:solidFill>
                <a:latin typeface="Calibri"/>
                <a:ea typeface="Calibri"/>
                <a:cs typeface="Calibri"/>
                <a:sym typeface="Calibri"/>
              </a:rPr>
              <a:t>Objectives</a:t>
            </a:r>
            <a:endParaRPr b="1" i="0" sz="1200" u="sng"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1" i="0" sz="1200" u="sng" cap="none" strike="noStrike">
              <a:solidFill>
                <a:schemeClr val="dk1"/>
              </a:solidFill>
              <a:latin typeface="Calibri"/>
              <a:ea typeface="Calibri"/>
              <a:cs typeface="Calibri"/>
              <a:sym typeface="Calibri"/>
            </a:endParaRPr>
          </a:p>
          <a:p>
            <a:pPr indent="-571500" lvl="0" marL="5715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To evaluate the effectiveness of </a:t>
            </a:r>
            <a:r>
              <a:rPr b="1" i="0" lang="en-US" sz="2600" u="sng" cap="none" strike="noStrike">
                <a:solidFill>
                  <a:schemeClr val="dk1"/>
                </a:solidFill>
                <a:latin typeface="Calibri"/>
                <a:ea typeface="Calibri"/>
                <a:cs typeface="Calibri"/>
                <a:sym typeface="Calibri"/>
              </a:rPr>
              <a:t>Kokaral Dam</a:t>
            </a:r>
            <a:r>
              <a:rPr b="1" i="0" lang="en-US" sz="2600" u="none" cap="none" strike="noStrike">
                <a:solidFill>
                  <a:schemeClr val="dk1"/>
                </a:solidFill>
                <a:latin typeface="Calibri"/>
                <a:ea typeface="Calibri"/>
                <a:cs typeface="Calibri"/>
                <a:sym typeface="Calibri"/>
              </a:rPr>
              <a:t> on the increase in water level (and thus change in coastline) in the </a:t>
            </a:r>
            <a:r>
              <a:rPr b="1" i="0" lang="en-US" sz="2600" u="none" cap="none" strike="noStrike">
                <a:solidFill>
                  <a:srgbClr val="FF0000"/>
                </a:solidFill>
                <a:latin typeface="Calibri"/>
                <a:ea typeface="Calibri"/>
                <a:cs typeface="Calibri"/>
                <a:sym typeface="Calibri"/>
              </a:rPr>
              <a:t>North Aral Sea</a:t>
            </a:r>
            <a:r>
              <a:rPr b="1" i="0" lang="en-US" sz="2600" u="none" cap="none" strike="noStrike">
                <a:solidFill>
                  <a:schemeClr val="dk1"/>
                </a:solidFill>
                <a:latin typeface="Calibri"/>
                <a:ea typeface="Calibri"/>
                <a:cs typeface="Calibri"/>
                <a:sym typeface="Calibri"/>
              </a:rPr>
              <a:t>, Kazakhstan</a:t>
            </a:r>
            <a:endParaRPr/>
          </a:p>
          <a:p>
            <a:pPr indent="-406400" lvl="0" marL="571500" marR="0" rtl="0" algn="l">
              <a:spcBef>
                <a:spcPts val="0"/>
              </a:spcBef>
              <a:spcAft>
                <a:spcPts val="0"/>
              </a:spcAft>
              <a:buClr>
                <a:schemeClr val="dk1"/>
              </a:buClr>
              <a:buSzPts val="2600"/>
              <a:buFont typeface="Arial"/>
              <a:buNone/>
            </a:pPr>
            <a:r>
              <a:t/>
            </a:r>
            <a:endParaRPr b="1" i="0" sz="2600" u="none" cap="none" strike="noStrike">
              <a:solidFill>
                <a:schemeClr val="dk1"/>
              </a:solidFill>
              <a:latin typeface="Calibri"/>
              <a:ea typeface="Calibri"/>
              <a:cs typeface="Calibri"/>
              <a:sym typeface="Calibri"/>
            </a:endParaRPr>
          </a:p>
          <a:p>
            <a:pPr indent="-571500" lvl="0" marL="5715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To demonstrate the usefulness of raster analysis and tools to evaluate this coastline change and similar scenarios.</a:t>
            </a:r>
            <a:endParaRPr/>
          </a:p>
          <a:p>
            <a:pPr indent="-419100" lvl="1" marL="102870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i="0" sz="3600" u="none" cap="none" strike="noStrike">
              <a:solidFill>
                <a:schemeClr val="dk1"/>
              </a:solidFill>
              <a:latin typeface="Calibri"/>
              <a:ea typeface="Calibri"/>
              <a:cs typeface="Calibri"/>
              <a:sym typeface="Calibri"/>
            </a:endParaRPr>
          </a:p>
        </p:txBody>
      </p:sp>
      <p:grpSp>
        <p:nvGrpSpPr>
          <p:cNvPr id="96" name="Google Shape;96;p15"/>
          <p:cNvGrpSpPr/>
          <p:nvPr/>
        </p:nvGrpSpPr>
        <p:grpSpPr>
          <a:xfrm>
            <a:off x="186913" y="3211714"/>
            <a:ext cx="6771835" cy="3646286"/>
            <a:chOff x="186913" y="3211714"/>
            <a:chExt cx="6771835" cy="3646286"/>
          </a:xfrm>
        </p:grpSpPr>
        <p:grpSp>
          <p:nvGrpSpPr>
            <p:cNvPr id="97" name="Google Shape;97;p15"/>
            <p:cNvGrpSpPr/>
            <p:nvPr/>
          </p:nvGrpSpPr>
          <p:grpSpPr>
            <a:xfrm>
              <a:off x="186913" y="3211714"/>
              <a:ext cx="6771835" cy="3646286"/>
              <a:chOff x="186913" y="3211714"/>
              <a:chExt cx="6771835" cy="3646286"/>
            </a:xfrm>
          </p:grpSpPr>
          <p:pic>
            <p:nvPicPr>
              <p:cNvPr id="98" name="Google Shape;98;p15"/>
              <p:cNvPicPr preferRelativeResize="0"/>
              <p:nvPr/>
            </p:nvPicPr>
            <p:blipFill rotWithShape="1">
              <a:blip r:embed="rId4">
                <a:alphaModFix/>
              </a:blip>
              <a:srcRect b="0" l="0" r="0" t="0"/>
              <a:stretch/>
            </p:blipFill>
            <p:spPr>
              <a:xfrm>
                <a:off x="186913" y="3211714"/>
                <a:ext cx="6017903" cy="3511279"/>
              </a:xfrm>
              <a:prstGeom prst="rect">
                <a:avLst/>
              </a:prstGeom>
              <a:noFill/>
              <a:ln>
                <a:noFill/>
              </a:ln>
            </p:spPr>
          </p:pic>
          <p:pic>
            <p:nvPicPr>
              <p:cNvPr id="99" name="Google Shape;99;p15"/>
              <p:cNvPicPr preferRelativeResize="0"/>
              <p:nvPr/>
            </p:nvPicPr>
            <p:blipFill rotWithShape="1">
              <a:blip r:embed="rId5">
                <a:alphaModFix/>
              </a:blip>
              <a:srcRect b="0" l="0" r="0" t="0"/>
              <a:stretch/>
            </p:blipFill>
            <p:spPr>
              <a:xfrm>
                <a:off x="3754217" y="4807974"/>
                <a:ext cx="3204531" cy="2050026"/>
              </a:xfrm>
              <a:prstGeom prst="rect">
                <a:avLst/>
              </a:prstGeom>
              <a:noFill/>
              <a:ln>
                <a:noFill/>
              </a:ln>
            </p:spPr>
          </p:pic>
        </p:grpSp>
        <p:sp>
          <p:nvSpPr>
            <p:cNvPr id="100" name="Google Shape;100;p15"/>
            <p:cNvSpPr/>
            <p:nvPr/>
          </p:nvSpPr>
          <p:spPr>
            <a:xfrm>
              <a:off x="2547257" y="3629608"/>
              <a:ext cx="793102" cy="765110"/>
            </a:xfrm>
            <a:prstGeom prst="ellipse">
              <a:avLst/>
            </a:prstGeom>
            <a:noFill/>
            <a:ln cap="flat" cmpd="sng" w="127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pic>
        <p:nvPicPr>
          <p:cNvPr id="101" name="Google Shape;101;p15"/>
          <p:cNvPicPr preferRelativeResize="0"/>
          <p:nvPr/>
        </p:nvPicPr>
        <p:blipFill rotWithShape="1">
          <a:blip r:embed="rId6">
            <a:alphaModFix/>
          </a:blip>
          <a:srcRect b="0" l="0" r="0" t="0"/>
          <a:stretch/>
        </p:blipFill>
        <p:spPr>
          <a:xfrm>
            <a:off x="7148052" y="3017090"/>
            <a:ext cx="4763728" cy="3840910"/>
          </a:xfrm>
          <a:prstGeom prst="rect">
            <a:avLst/>
          </a:prstGeom>
          <a:noFill/>
          <a:ln>
            <a:noFill/>
          </a:ln>
        </p:spPr>
      </p:pic>
      <p:sp>
        <p:nvSpPr>
          <p:cNvPr id="102" name="Google Shape;102;p15"/>
          <p:cNvSpPr txBox="1"/>
          <p:nvPr/>
        </p:nvSpPr>
        <p:spPr>
          <a:xfrm>
            <a:off x="7256206" y="3059668"/>
            <a:ext cx="6930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lt1"/>
                </a:solidFill>
                <a:latin typeface="Calibri"/>
                <a:ea typeface="Calibri"/>
                <a:cs typeface="Calibri"/>
                <a:sym typeface="Calibri"/>
              </a:rPr>
              <a:t>1989</a:t>
            </a:r>
            <a:endParaRPr/>
          </a:p>
        </p:txBody>
      </p:sp>
      <p:sp>
        <p:nvSpPr>
          <p:cNvPr id="103" name="Google Shape;103;p15"/>
          <p:cNvSpPr txBox="1"/>
          <p:nvPr/>
        </p:nvSpPr>
        <p:spPr>
          <a:xfrm>
            <a:off x="9529916" y="3059668"/>
            <a:ext cx="6930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2014</a:t>
            </a:r>
            <a:endParaRPr/>
          </a:p>
        </p:txBody>
      </p:sp>
      <p:sp>
        <p:nvSpPr>
          <p:cNvPr id="104" name="Google Shape;104;p15"/>
          <p:cNvSpPr/>
          <p:nvPr/>
        </p:nvSpPr>
        <p:spPr>
          <a:xfrm>
            <a:off x="10971948" y="3017090"/>
            <a:ext cx="906774" cy="966242"/>
          </a:xfrm>
          <a:prstGeom prst="ellipse">
            <a:avLst/>
          </a:prstGeom>
          <a:noFill/>
          <a:ln cap="flat" cmpd="sng" w="381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5" name="Google Shape;105;p15"/>
          <p:cNvCxnSpPr/>
          <p:nvPr/>
        </p:nvCxnSpPr>
        <p:spPr>
          <a:xfrm>
            <a:off x="3340359" y="4217437"/>
            <a:ext cx="765110" cy="690465"/>
          </a:xfrm>
          <a:prstGeom prst="straightConnector1">
            <a:avLst/>
          </a:prstGeom>
          <a:noFill/>
          <a:ln cap="flat" cmpd="sng" w="57150">
            <a:solidFill>
              <a:srgbClr val="FF0000"/>
            </a:solidFill>
            <a:prstDash val="solid"/>
            <a:miter lim="800000"/>
            <a:headEnd len="sm" w="sm"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Increased evaporation, coupled with reduced groundwater inflow and precipitation, has led to the foaming of water.  (Photographs: Neha Mungekar)" id="110" name="Google Shape;110;p16"/>
          <p:cNvPicPr preferRelativeResize="0"/>
          <p:nvPr/>
        </p:nvPicPr>
        <p:blipFill rotWithShape="1">
          <a:blip r:embed="rId3">
            <a:alphaModFix amt="19000"/>
          </a:blip>
          <a:srcRect b="0" l="0" r="0" t="0"/>
          <a:stretch/>
        </p:blipFill>
        <p:spPr>
          <a:xfrm>
            <a:off x="3366429" y="0"/>
            <a:ext cx="8825571" cy="4964384"/>
          </a:xfrm>
          <a:prstGeom prst="rect">
            <a:avLst/>
          </a:prstGeom>
          <a:noFill/>
          <a:ln>
            <a:noFill/>
          </a:ln>
        </p:spPr>
      </p:pic>
      <p:sp>
        <p:nvSpPr>
          <p:cNvPr id="111" name="Google Shape;111;p16"/>
          <p:cNvSpPr txBox="1"/>
          <p:nvPr/>
        </p:nvSpPr>
        <p:spPr>
          <a:xfrm>
            <a:off x="280219" y="0"/>
            <a:ext cx="11631561"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Background</a:t>
            </a:r>
            <a:endParaRPr b="1" sz="2600">
              <a:solidFill>
                <a:schemeClr val="dk1"/>
              </a:solidFill>
              <a:latin typeface="Calibri"/>
              <a:ea typeface="Calibri"/>
              <a:cs typeface="Calibri"/>
              <a:sym typeface="Calibri"/>
            </a:endParaRPr>
          </a:p>
          <a:p>
            <a:pPr indent="-419100" lvl="1" marL="102870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descr="Image result for The tragic story of the sea that disappeared" id="112" name="Google Shape;112;p16"/>
          <p:cNvPicPr preferRelativeResize="0"/>
          <p:nvPr/>
        </p:nvPicPr>
        <p:blipFill rotWithShape="1">
          <a:blip r:embed="rId4">
            <a:alphaModFix/>
          </a:blip>
          <a:srcRect b="0" l="0" r="0" t="0"/>
          <a:stretch/>
        </p:blipFill>
        <p:spPr>
          <a:xfrm>
            <a:off x="6324102" y="3486891"/>
            <a:ext cx="5801223" cy="3263188"/>
          </a:xfrm>
          <a:prstGeom prst="rect">
            <a:avLst/>
          </a:prstGeom>
          <a:noFill/>
          <a:ln>
            <a:noFill/>
          </a:ln>
        </p:spPr>
      </p:pic>
      <p:pic>
        <p:nvPicPr>
          <p:cNvPr id="113" name="Google Shape;113;p16"/>
          <p:cNvPicPr preferRelativeResize="0"/>
          <p:nvPr/>
        </p:nvPicPr>
        <p:blipFill rotWithShape="1">
          <a:blip r:embed="rId5">
            <a:alphaModFix/>
          </a:blip>
          <a:srcRect b="0" l="0" r="0" t="0"/>
          <a:stretch/>
        </p:blipFill>
        <p:spPr>
          <a:xfrm>
            <a:off x="9755350" y="609717"/>
            <a:ext cx="2369975" cy="2819283"/>
          </a:xfrm>
          <a:prstGeom prst="rect">
            <a:avLst/>
          </a:prstGeom>
          <a:noFill/>
          <a:ln>
            <a:noFill/>
          </a:ln>
        </p:spPr>
      </p:pic>
      <p:grpSp>
        <p:nvGrpSpPr>
          <p:cNvPr id="114" name="Google Shape;114;p16"/>
          <p:cNvGrpSpPr/>
          <p:nvPr/>
        </p:nvGrpSpPr>
        <p:grpSpPr>
          <a:xfrm>
            <a:off x="94309" y="878670"/>
            <a:ext cx="6029325" cy="5752298"/>
            <a:chOff x="236316" y="1751984"/>
            <a:chExt cx="6029325" cy="5752298"/>
          </a:xfrm>
        </p:grpSpPr>
        <p:grpSp>
          <p:nvGrpSpPr>
            <p:cNvPr id="115" name="Google Shape;115;p16"/>
            <p:cNvGrpSpPr/>
            <p:nvPr/>
          </p:nvGrpSpPr>
          <p:grpSpPr>
            <a:xfrm>
              <a:off x="236316" y="1751984"/>
              <a:ext cx="6029325" cy="5752298"/>
              <a:chOff x="280219" y="963562"/>
              <a:chExt cx="6029325" cy="5752298"/>
            </a:xfrm>
          </p:grpSpPr>
          <p:pic>
            <p:nvPicPr>
              <p:cNvPr descr="map of the aral sea" id="116" name="Google Shape;116;p16"/>
              <p:cNvPicPr preferRelativeResize="0"/>
              <p:nvPr/>
            </p:nvPicPr>
            <p:blipFill rotWithShape="1">
              <a:blip r:embed="rId6">
                <a:alphaModFix/>
              </a:blip>
              <a:srcRect b="0" l="0" r="0" t="0"/>
              <a:stretch/>
            </p:blipFill>
            <p:spPr>
              <a:xfrm>
                <a:off x="280219" y="963562"/>
                <a:ext cx="6029325" cy="5752298"/>
              </a:xfrm>
              <a:prstGeom prst="rect">
                <a:avLst/>
              </a:prstGeom>
              <a:noFill/>
              <a:ln>
                <a:noFill/>
              </a:ln>
            </p:spPr>
          </p:pic>
          <p:cxnSp>
            <p:nvCxnSpPr>
              <p:cNvPr id="117" name="Google Shape;117;p16"/>
              <p:cNvCxnSpPr/>
              <p:nvPr/>
            </p:nvCxnSpPr>
            <p:spPr>
              <a:xfrm>
                <a:off x="3685592" y="4282751"/>
                <a:ext cx="951722" cy="1091682"/>
              </a:xfrm>
              <a:prstGeom prst="straightConnector1">
                <a:avLst/>
              </a:prstGeom>
              <a:noFill/>
              <a:ln cap="flat" cmpd="sng" w="38100">
                <a:solidFill>
                  <a:srgbClr val="FF0000"/>
                </a:solidFill>
                <a:prstDash val="solid"/>
                <a:miter lim="800000"/>
                <a:headEnd len="sm" w="sm" type="none"/>
                <a:tailEnd len="sm" w="sm" type="none"/>
              </a:ln>
            </p:spPr>
          </p:cxnSp>
          <p:cxnSp>
            <p:nvCxnSpPr>
              <p:cNvPr id="118" name="Google Shape;118;p16"/>
              <p:cNvCxnSpPr/>
              <p:nvPr/>
            </p:nvCxnSpPr>
            <p:spPr>
              <a:xfrm>
                <a:off x="4060371" y="2620286"/>
                <a:ext cx="838200" cy="598775"/>
              </a:xfrm>
              <a:prstGeom prst="straightConnector1">
                <a:avLst/>
              </a:prstGeom>
              <a:noFill/>
              <a:ln cap="flat" cmpd="sng" w="38100">
                <a:solidFill>
                  <a:srgbClr val="FF0000"/>
                </a:solidFill>
                <a:prstDash val="solid"/>
                <a:miter lim="800000"/>
                <a:headEnd len="sm" w="sm" type="none"/>
                <a:tailEnd len="sm" w="sm" type="none"/>
              </a:ln>
            </p:spPr>
          </p:cxnSp>
        </p:grpSp>
        <p:sp>
          <p:nvSpPr>
            <p:cNvPr id="119" name="Google Shape;119;p16"/>
            <p:cNvSpPr txBox="1"/>
            <p:nvPr/>
          </p:nvSpPr>
          <p:spPr>
            <a:xfrm>
              <a:off x="447868" y="1853698"/>
              <a:ext cx="5648131"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Soviet Diversion of feeding Rivers for Wheat and Cotton Irrigation-late 1950’s</a:t>
              </a:r>
              <a:endParaRPr/>
            </a:p>
          </p:txBody>
        </p:sp>
      </p:grpSp>
      <p:pic>
        <p:nvPicPr>
          <p:cNvPr id="120" name="Google Shape;120;p16"/>
          <p:cNvPicPr preferRelativeResize="0"/>
          <p:nvPr/>
        </p:nvPicPr>
        <p:blipFill rotWithShape="1">
          <a:blip r:embed="rId7">
            <a:alphaModFix/>
          </a:blip>
          <a:srcRect b="0" l="0" r="0" t="0"/>
          <a:stretch/>
        </p:blipFill>
        <p:spPr>
          <a:xfrm>
            <a:off x="6303432" y="743384"/>
            <a:ext cx="3362697" cy="25220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Increased evaporation, coupled with reduced groundwater inflow and precipitation, has led to the foaming of water.  (Photographs: Neha Mungekar)" id="125" name="Google Shape;125;p17"/>
          <p:cNvPicPr preferRelativeResize="0"/>
          <p:nvPr/>
        </p:nvPicPr>
        <p:blipFill rotWithShape="1">
          <a:blip r:embed="rId3">
            <a:alphaModFix amt="19000"/>
          </a:blip>
          <a:srcRect b="0" l="0" r="0" t="0"/>
          <a:stretch/>
        </p:blipFill>
        <p:spPr>
          <a:xfrm>
            <a:off x="0" y="0"/>
            <a:ext cx="12192000" cy="6970465"/>
          </a:xfrm>
          <a:prstGeom prst="rect">
            <a:avLst/>
          </a:prstGeom>
          <a:noFill/>
          <a:ln>
            <a:noFill/>
          </a:ln>
        </p:spPr>
      </p:pic>
      <p:sp>
        <p:nvSpPr>
          <p:cNvPr id="126" name="Google Shape;126;p17"/>
          <p:cNvSpPr txBox="1"/>
          <p:nvPr/>
        </p:nvSpPr>
        <p:spPr>
          <a:xfrm>
            <a:off x="280219" y="0"/>
            <a:ext cx="11631561"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u="sng">
                <a:solidFill>
                  <a:schemeClr val="dk1"/>
                </a:solidFill>
                <a:latin typeface="Calibri"/>
                <a:ea typeface="Calibri"/>
                <a:cs typeface="Calibri"/>
                <a:sym typeface="Calibri"/>
              </a:rPr>
              <a:t>Background </a:t>
            </a:r>
            <a:r>
              <a:rPr b="1" lang="en-US" sz="3200" u="sng">
                <a:solidFill>
                  <a:schemeClr val="dk1"/>
                </a:solidFill>
                <a:latin typeface="Calibri"/>
                <a:ea typeface="Calibri"/>
                <a:cs typeface="Calibri"/>
                <a:sym typeface="Calibri"/>
              </a:rPr>
              <a:t>(cont’d)</a:t>
            </a:r>
            <a:endParaRPr b="1" sz="2000">
              <a:solidFill>
                <a:schemeClr val="dk1"/>
              </a:solidFill>
              <a:latin typeface="Calibri"/>
              <a:ea typeface="Calibri"/>
              <a:cs typeface="Calibri"/>
              <a:sym typeface="Calibri"/>
            </a:endParaRPr>
          </a:p>
          <a:p>
            <a:pPr indent="-419100" lvl="1" marL="102870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sp>
        <p:nvSpPr>
          <p:cNvPr id="127" name="Google Shape;127;p17"/>
          <p:cNvSpPr txBox="1"/>
          <p:nvPr/>
        </p:nvSpPr>
        <p:spPr>
          <a:xfrm>
            <a:off x="137704" y="768955"/>
            <a:ext cx="7382770" cy="3323987"/>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b="1" lang="en-US" sz="2400" u="sng">
                <a:solidFill>
                  <a:schemeClr val="dk1"/>
                </a:solidFill>
                <a:latin typeface="Calibri"/>
                <a:ea typeface="Calibri"/>
                <a:cs typeface="Calibri"/>
                <a:sym typeface="Calibri"/>
              </a:rPr>
              <a:t>Kokaral Dam</a:t>
            </a:r>
            <a:br>
              <a:rPr b="1" lang="en-US" sz="2400">
                <a:solidFill>
                  <a:schemeClr val="dk1"/>
                </a:solidFill>
                <a:latin typeface="Calibri"/>
                <a:ea typeface="Calibri"/>
                <a:cs typeface="Calibri"/>
                <a:sym typeface="Calibri"/>
              </a:rPr>
            </a:br>
            <a:r>
              <a:rPr b="1" lang="en-US" sz="2400">
                <a:solidFill>
                  <a:schemeClr val="dk1"/>
                </a:solidFill>
                <a:latin typeface="Calibri"/>
                <a:ea typeface="Calibri"/>
                <a:cs typeface="Calibri"/>
                <a:sym typeface="Calibri"/>
              </a:rPr>
              <a:t>1992: Locals built low-tech Dam in Kokaral earthen materials</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Highly effective but eventually collapsed in 1999</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World Bank involvement</a:t>
            </a:r>
            <a:endParaRPr/>
          </a:p>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New modern Kokaral Dam finished in 2005</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Calculated increase in water level achieved in 7 months rather than 10 years </a:t>
            </a:r>
            <a:endParaRPr/>
          </a:p>
          <a:p>
            <a:pPr indent="0" lvl="1" marL="4572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a:t>
            </a:r>
            <a:endParaRPr/>
          </a:p>
        </p:txBody>
      </p:sp>
      <p:sp>
        <p:nvSpPr>
          <p:cNvPr id="128" name="Google Shape;128;p17"/>
          <p:cNvSpPr txBox="1"/>
          <p:nvPr/>
        </p:nvSpPr>
        <p:spPr>
          <a:xfrm>
            <a:off x="137704" y="3894474"/>
            <a:ext cx="61722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u="sng">
                <a:solidFill>
                  <a:schemeClr val="dk1"/>
                </a:solidFill>
                <a:latin typeface="Calibri"/>
                <a:ea typeface="Calibri"/>
                <a:cs typeface="Calibri"/>
                <a:sym typeface="Calibri"/>
              </a:rPr>
              <a:t>Problem Statement</a:t>
            </a:r>
            <a:endParaRPr b="1" sz="4000">
              <a:solidFill>
                <a:schemeClr val="dk1"/>
              </a:solidFill>
              <a:latin typeface="Calibri"/>
              <a:ea typeface="Calibri"/>
              <a:cs typeface="Calibri"/>
              <a:sym typeface="Calibri"/>
            </a:endParaRPr>
          </a:p>
        </p:txBody>
      </p:sp>
      <p:pic>
        <p:nvPicPr>
          <p:cNvPr descr="Aral Sea being revived, partially, as fishing recovers - The Astana Times" id="129" name="Google Shape;129;p17"/>
          <p:cNvPicPr preferRelativeResize="0"/>
          <p:nvPr/>
        </p:nvPicPr>
        <p:blipFill rotWithShape="1">
          <a:blip r:embed="rId4">
            <a:alphaModFix/>
          </a:blip>
          <a:srcRect b="0" l="0" r="0" t="0"/>
          <a:stretch/>
        </p:blipFill>
        <p:spPr>
          <a:xfrm>
            <a:off x="7291646" y="3561899"/>
            <a:ext cx="4894870" cy="3217113"/>
          </a:xfrm>
          <a:prstGeom prst="rect">
            <a:avLst/>
          </a:prstGeom>
          <a:noFill/>
          <a:ln>
            <a:noFill/>
          </a:ln>
        </p:spPr>
      </p:pic>
      <p:pic>
        <p:nvPicPr>
          <p:cNvPr id="130" name="Google Shape;130;p17"/>
          <p:cNvPicPr preferRelativeResize="0"/>
          <p:nvPr/>
        </p:nvPicPr>
        <p:blipFill rotWithShape="1">
          <a:blip r:embed="rId5">
            <a:alphaModFix/>
          </a:blip>
          <a:srcRect b="0" l="0" r="0" t="0"/>
          <a:stretch/>
        </p:blipFill>
        <p:spPr>
          <a:xfrm>
            <a:off x="7297130" y="29592"/>
            <a:ext cx="4894870" cy="3266510"/>
          </a:xfrm>
          <a:prstGeom prst="rect">
            <a:avLst/>
          </a:prstGeom>
          <a:noFill/>
          <a:ln>
            <a:noFill/>
          </a:ln>
        </p:spPr>
      </p:pic>
      <p:sp>
        <p:nvSpPr>
          <p:cNvPr id="131" name="Google Shape;131;p17"/>
          <p:cNvSpPr txBox="1"/>
          <p:nvPr/>
        </p:nvSpPr>
        <p:spPr>
          <a:xfrm>
            <a:off x="5484" y="4832305"/>
            <a:ext cx="7223143"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400">
                <a:solidFill>
                  <a:srgbClr val="FF0000"/>
                </a:solidFill>
                <a:latin typeface="Calibri"/>
                <a:ea typeface="Calibri"/>
                <a:cs typeface="Calibri"/>
                <a:sym typeface="Calibri"/>
              </a:rPr>
              <a:t>“Required travel distance from existing villages to coastline hinder redevelopment of fishing industry and community growth.”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Increased evaporation, coupled with reduced groundwater inflow and precipitation, has led to the foaming of water.  (Photographs: Neha Mungekar)" id="136" name="Google Shape;136;p18"/>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37" name="Google Shape;137;p18"/>
          <p:cNvSpPr txBox="1"/>
          <p:nvPr/>
        </p:nvSpPr>
        <p:spPr>
          <a:xfrm>
            <a:off x="0" y="68888"/>
            <a:ext cx="11631561" cy="76328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Methodology</a:t>
            </a:r>
            <a:endParaRPr/>
          </a:p>
          <a:p>
            <a:pPr indent="-571500" lvl="0" marL="571500" marR="0" rtl="0" algn="l">
              <a:spcBef>
                <a:spcPts val="0"/>
              </a:spcBef>
              <a:spcAft>
                <a:spcPts val="0"/>
              </a:spcAft>
              <a:buClr>
                <a:schemeClr val="dk1"/>
              </a:buClr>
              <a:buSzPts val="2600"/>
              <a:buFont typeface="Arial"/>
              <a:buChar char="•"/>
            </a:pPr>
            <a:r>
              <a:rPr b="1" lang="en-US" sz="2600">
                <a:solidFill>
                  <a:schemeClr val="dk1"/>
                </a:solidFill>
                <a:latin typeface="Calibri"/>
                <a:ea typeface="Calibri"/>
                <a:cs typeface="Calibri"/>
                <a:sym typeface="Calibri"/>
              </a:rPr>
              <a:t>Focus on </a:t>
            </a:r>
            <a:r>
              <a:rPr b="1" lang="en-US" sz="2600" u="sng">
                <a:solidFill>
                  <a:schemeClr val="dk1"/>
                </a:solidFill>
                <a:latin typeface="Calibri"/>
                <a:ea typeface="Calibri"/>
                <a:cs typeface="Calibri"/>
                <a:sym typeface="Calibri"/>
              </a:rPr>
              <a:t>Zhalanash</a:t>
            </a:r>
            <a:r>
              <a:rPr b="1" lang="en-US" sz="2600">
                <a:solidFill>
                  <a:schemeClr val="dk1"/>
                </a:solidFill>
                <a:latin typeface="Calibri"/>
                <a:ea typeface="Calibri"/>
                <a:cs typeface="Calibri"/>
                <a:sym typeface="Calibri"/>
              </a:rPr>
              <a:t> village</a:t>
            </a:r>
            <a:endParaRPr/>
          </a:p>
          <a:p>
            <a:pPr indent="-571500" lvl="1" marL="10287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Gather Satellite (“Landsat”) Imagery</a:t>
            </a:r>
            <a:endParaRPr/>
          </a:p>
          <a:p>
            <a:pPr indent="-571500" lvl="2" marL="14859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USGS- “Glovis” or “Earth Explorer”</a:t>
            </a:r>
            <a:endParaRPr/>
          </a:p>
          <a:p>
            <a:pPr indent="-571500" lvl="2" marL="14859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2005 (inception of Kokaral Dam)</a:t>
            </a:r>
            <a:endParaRPr/>
          </a:p>
          <a:p>
            <a:pPr indent="-571500" lvl="2" marL="14859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2021 (present day)</a:t>
            </a:r>
            <a:endParaRPr/>
          </a:p>
          <a:p>
            <a:pPr indent="-406400" lvl="2" marL="1485900" marR="0" rtl="0" algn="l">
              <a:spcBef>
                <a:spcPts val="0"/>
              </a:spcBef>
              <a:spcAft>
                <a:spcPts val="0"/>
              </a:spcAft>
              <a:buClr>
                <a:schemeClr val="dk1"/>
              </a:buClr>
              <a:buSzPts val="2600"/>
              <a:buFont typeface="Arial"/>
              <a:buNone/>
            </a:pPr>
            <a:r>
              <a:t/>
            </a:r>
            <a:endParaRPr b="1" i="0" sz="2600" u="none" cap="none" strike="noStrike">
              <a:solidFill>
                <a:schemeClr val="dk1"/>
              </a:solidFill>
              <a:latin typeface="Calibri"/>
              <a:ea typeface="Calibri"/>
              <a:cs typeface="Calibri"/>
              <a:sym typeface="Calibri"/>
            </a:endParaRPr>
          </a:p>
          <a:p>
            <a:pPr indent="-571500" lvl="1" marL="10287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Compare Raster Imagery in ArcPro</a:t>
            </a:r>
            <a:endParaRPr/>
          </a:p>
          <a:p>
            <a:pPr indent="-571500" lvl="2" marL="14859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Evaluate Change in Coastline</a:t>
            </a:r>
            <a:endParaRPr/>
          </a:p>
          <a:p>
            <a:pPr indent="-571500" lvl="3" marL="19431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Import Satellite Imagery</a:t>
            </a:r>
            <a:endParaRPr/>
          </a:p>
          <a:p>
            <a:pPr indent="-571500" lvl="3" marL="19431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Reduce Imagery to binary data</a:t>
            </a:r>
            <a:endParaRPr/>
          </a:p>
          <a:p>
            <a:pPr indent="-571500" lvl="4" marL="24003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Land and “Not Land-Barren Earth</a:t>
            </a:r>
            <a:endParaRPr/>
          </a:p>
          <a:p>
            <a:pPr indent="-571500" lvl="4" marL="24003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Pixel detection “training”, Geo-tools</a:t>
            </a:r>
            <a:endParaRPr/>
          </a:p>
          <a:p>
            <a:pPr indent="-571500" lvl="5" marL="28575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Supervised Training</a:t>
            </a:r>
            <a:endParaRPr/>
          </a:p>
          <a:p>
            <a:pPr indent="-571500" lvl="3" marL="19431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Classify Imagery into year specific layers</a:t>
            </a:r>
            <a:endParaRPr/>
          </a:p>
          <a:p>
            <a:pPr indent="-571500" lvl="3" marL="1943100" marR="0" rtl="0" algn="l">
              <a:spcBef>
                <a:spcPts val="0"/>
              </a:spcBef>
              <a:spcAft>
                <a:spcPts val="0"/>
              </a:spcAft>
              <a:buClr>
                <a:schemeClr val="dk1"/>
              </a:buClr>
              <a:buSzPts val="2600"/>
              <a:buFont typeface="Arial"/>
              <a:buChar char="•"/>
            </a:pPr>
            <a:r>
              <a:rPr b="1" i="0" lang="en-US" sz="2600" u="none" cap="none" strike="noStrike">
                <a:solidFill>
                  <a:schemeClr val="dk1"/>
                </a:solidFill>
                <a:latin typeface="Calibri"/>
                <a:ea typeface="Calibri"/>
                <a:cs typeface="Calibri"/>
                <a:sym typeface="Calibri"/>
              </a:rPr>
              <a:t>Compare</a:t>
            </a:r>
            <a:endParaRPr/>
          </a:p>
          <a:p>
            <a:pPr indent="-419100" lvl="1" marL="102870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138" name="Google Shape;138;p18"/>
          <p:cNvPicPr preferRelativeResize="0"/>
          <p:nvPr/>
        </p:nvPicPr>
        <p:blipFill rotWithShape="1">
          <a:blip r:embed="rId4">
            <a:alphaModFix/>
          </a:blip>
          <a:srcRect b="0" l="0" r="0" t="0"/>
          <a:stretch/>
        </p:blipFill>
        <p:spPr>
          <a:xfrm>
            <a:off x="7819105" y="68888"/>
            <a:ext cx="4372895" cy="2797461"/>
          </a:xfrm>
          <a:prstGeom prst="rect">
            <a:avLst/>
          </a:prstGeom>
          <a:noFill/>
          <a:ln>
            <a:noFill/>
          </a:ln>
        </p:spPr>
      </p:pic>
      <p:sp>
        <p:nvSpPr>
          <p:cNvPr id="139" name="Google Shape;139;p18"/>
          <p:cNvSpPr/>
          <p:nvPr/>
        </p:nvSpPr>
        <p:spPr>
          <a:xfrm>
            <a:off x="10195200" y="371547"/>
            <a:ext cx="906774" cy="966242"/>
          </a:xfrm>
          <a:prstGeom prst="ellipse">
            <a:avLst/>
          </a:prstGeom>
          <a:noFill/>
          <a:ln cap="flat" cmpd="sng" w="381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0" name="Google Shape;140;p18"/>
          <p:cNvGrpSpPr/>
          <p:nvPr/>
        </p:nvGrpSpPr>
        <p:grpSpPr>
          <a:xfrm>
            <a:off x="7778974" y="2985569"/>
            <a:ext cx="4413026" cy="3872431"/>
            <a:chOff x="7778974" y="2985569"/>
            <a:chExt cx="4413026" cy="3872431"/>
          </a:xfrm>
        </p:grpSpPr>
        <p:pic>
          <p:nvPicPr>
            <p:cNvPr id="141" name="Google Shape;141;p18"/>
            <p:cNvPicPr preferRelativeResize="0"/>
            <p:nvPr/>
          </p:nvPicPr>
          <p:blipFill rotWithShape="1">
            <a:blip r:embed="rId5">
              <a:alphaModFix/>
            </a:blip>
            <a:srcRect b="0" l="0" r="0" t="0"/>
            <a:stretch/>
          </p:blipFill>
          <p:spPr>
            <a:xfrm>
              <a:off x="7778974" y="2985569"/>
              <a:ext cx="4413026" cy="3872431"/>
            </a:xfrm>
            <a:prstGeom prst="rect">
              <a:avLst/>
            </a:prstGeom>
            <a:noFill/>
            <a:ln>
              <a:noFill/>
            </a:ln>
          </p:spPr>
        </p:pic>
        <p:cxnSp>
          <p:nvCxnSpPr>
            <p:cNvPr id="142" name="Google Shape;142;p18"/>
            <p:cNvCxnSpPr/>
            <p:nvPr/>
          </p:nvCxnSpPr>
          <p:spPr>
            <a:xfrm>
              <a:off x="9016181" y="3795252"/>
              <a:ext cx="1457093" cy="2208080"/>
            </a:xfrm>
            <a:prstGeom prst="straightConnector1">
              <a:avLst/>
            </a:prstGeom>
            <a:noFill/>
            <a:ln cap="flat" cmpd="sng" w="28575">
              <a:solidFill>
                <a:srgbClr val="FF0000"/>
              </a:solidFill>
              <a:prstDash val="solid"/>
              <a:miter lim="800000"/>
              <a:headEnd len="med" w="med" type="triangle"/>
              <a:tailEnd len="med" w="med" type="triangle"/>
            </a:ln>
          </p:spPr>
        </p:cxnSp>
        <p:sp>
          <p:nvSpPr>
            <p:cNvPr id="143" name="Google Shape;143;p18"/>
            <p:cNvSpPr/>
            <p:nvPr/>
          </p:nvSpPr>
          <p:spPr>
            <a:xfrm>
              <a:off x="10271503" y="5711768"/>
              <a:ext cx="906774" cy="966242"/>
            </a:xfrm>
            <a:prstGeom prst="ellipse">
              <a:avLst/>
            </a:prstGeom>
            <a:noFill/>
            <a:ln cap="flat" cmpd="sng" w="381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Increased evaporation, coupled with reduced groundwater inflow and precipitation, has led to the foaming of water.  (Photographs: Neha Mungekar)" id="148" name="Google Shape;148;p19"/>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49" name="Google Shape;149;p19"/>
          <p:cNvSpPr txBox="1"/>
          <p:nvPr/>
        </p:nvSpPr>
        <p:spPr>
          <a:xfrm>
            <a:off x="0" y="68888"/>
            <a:ext cx="11631561" cy="200054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Methodology-Data</a:t>
            </a:r>
            <a:endParaRPr/>
          </a:p>
          <a:p>
            <a:pPr indent="-571500" lvl="1" marL="10287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USGS : Glovis and “Earth Explorer Web Interface</a:t>
            </a:r>
            <a:endParaRPr/>
          </a:p>
          <a:p>
            <a:pPr indent="-571500" lvl="2" marL="1485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Dam Inception: 2005- </a:t>
            </a:r>
            <a:r>
              <a:rPr b="1" i="0" lang="en-US" sz="2400" u="sng" cap="none" strike="noStrike">
                <a:solidFill>
                  <a:schemeClr val="dk1"/>
                </a:solidFill>
                <a:latin typeface="Calibri"/>
                <a:ea typeface="Calibri"/>
                <a:cs typeface="Calibri"/>
                <a:sym typeface="Calibri"/>
              </a:rPr>
              <a:t>Landsat 7 </a:t>
            </a:r>
            <a:r>
              <a:rPr b="1" i="0" lang="en-US" sz="2400" u="none" cap="none" strike="noStrike">
                <a:solidFill>
                  <a:schemeClr val="dk1"/>
                </a:solidFill>
                <a:latin typeface="Calibri"/>
                <a:ea typeface="Calibri"/>
                <a:cs typeface="Calibri"/>
                <a:sym typeface="Calibri"/>
              </a:rPr>
              <a:t>available</a:t>
            </a:r>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150" name="Google Shape;150;p19"/>
          <p:cNvPicPr preferRelativeResize="0"/>
          <p:nvPr/>
        </p:nvPicPr>
        <p:blipFill rotWithShape="1">
          <a:blip r:embed="rId4">
            <a:alphaModFix/>
          </a:blip>
          <a:srcRect b="0" l="0" r="0" t="0"/>
          <a:stretch/>
        </p:blipFill>
        <p:spPr>
          <a:xfrm>
            <a:off x="149892" y="1862263"/>
            <a:ext cx="11276269" cy="4995737"/>
          </a:xfrm>
          <a:prstGeom prst="rect">
            <a:avLst/>
          </a:prstGeom>
          <a:noFill/>
          <a:ln>
            <a:noFill/>
          </a:ln>
        </p:spPr>
      </p:pic>
      <p:sp>
        <p:nvSpPr>
          <p:cNvPr id="151" name="Google Shape;151;p19"/>
          <p:cNvSpPr txBox="1"/>
          <p:nvPr/>
        </p:nvSpPr>
        <p:spPr>
          <a:xfrm>
            <a:off x="4132745" y="1462153"/>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Glovis Web Interface</a:t>
            </a:r>
            <a:endParaRPr/>
          </a:p>
        </p:txBody>
      </p:sp>
      <p:pic>
        <p:nvPicPr>
          <p:cNvPr id="152" name="Google Shape;152;p19"/>
          <p:cNvPicPr preferRelativeResize="0"/>
          <p:nvPr/>
        </p:nvPicPr>
        <p:blipFill rotWithShape="1">
          <a:blip r:embed="rId5">
            <a:alphaModFix/>
          </a:blip>
          <a:srcRect b="0" l="0" r="0" t="0"/>
          <a:stretch/>
        </p:blipFill>
        <p:spPr>
          <a:xfrm>
            <a:off x="9377265" y="0"/>
            <a:ext cx="2814735" cy="1800663"/>
          </a:xfrm>
          <a:prstGeom prst="rect">
            <a:avLst/>
          </a:prstGeom>
          <a:noFill/>
          <a:ln>
            <a:noFill/>
          </a:ln>
        </p:spPr>
      </p:pic>
      <p:sp>
        <p:nvSpPr>
          <p:cNvPr id="153" name="Google Shape;153;p19"/>
          <p:cNvSpPr/>
          <p:nvPr/>
        </p:nvSpPr>
        <p:spPr>
          <a:xfrm>
            <a:off x="10618237" y="6512767"/>
            <a:ext cx="914400" cy="345233"/>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Increased evaporation, coupled with reduced groundwater inflow and precipitation, has led to the foaming of water.  (Photographs: Neha Mungekar)" id="158" name="Google Shape;158;p20"/>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59" name="Google Shape;159;p20"/>
          <p:cNvSpPr txBox="1"/>
          <p:nvPr/>
        </p:nvSpPr>
        <p:spPr>
          <a:xfrm>
            <a:off x="0" y="68888"/>
            <a:ext cx="11631561" cy="33239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Methodology-Data</a:t>
            </a:r>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571500" lvl="1" marL="10287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USGS : Glovis and “Earth Explorer Web Interface</a:t>
            </a:r>
            <a:endParaRPr/>
          </a:p>
          <a:p>
            <a:pPr indent="-571500" lvl="2" marL="1485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Dam Inception: 2005-LandSat 7 available</a:t>
            </a:r>
            <a:endParaRPr/>
          </a:p>
          <a:p>
            <a:pPr indent="-571500" lvl="3" marL="19431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2003 malfunction in Landsat 7</a:t>
            </a:r>
            <a:endParaRPr/>
          </a:p>
          <a:p>
            <a:pPr indent="-571500" lvl="4" marL="24003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Black Bands- 25% loss</a:t>
            </a:r>
            <a:endParaRPr/>
          </a:p>
          <a:p>
            <a:pPr indent="-571500" lvl="3" marL="19431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2013- First year of  Landsat 8 </a:t>
            </a:r>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grpSp>
        <p:nvGrpSpPr>
          <p:cNvPr id="160" name="Google Shape;160;p20"/>
          <p:cNvGrpSpPr/>
          <p:nvPr/>
        </p:nvGrpSpPr>
        <p:grpSpPr>
          <a:xfrm>
            <a:off x="70763" y="3063351"/>
            <a:ext cx="6143426" cy="3725761"/>
            <a:chOff x="173399" y="2850502"/>
            <a:chExt cx="6143426" cy="3725761"/>
          </a:xfrm>
        </p:grpSpPr>
        <p:pic>
          <p:nvPicPr>
            <p:cNvPr id="161" name="Google Shape;161;p20"/>
            <p:cNvPicPr preferRelativeResize="0"/>
            <p:nvPr/>
          </p:nvPicPr>
          <p:blipFill rotWithShape="1">
            <a:blip r:embed="rId4">
              <a:alphaModFix/>
            </a:blip>
            <a:srcRect b="0" l="0" r="0" t="0"/>
            <a:stretch/>
          </p:blipFill>
          <p:spPr>
            <a:xfrm>
              <a:off x="173399" y="2850502"/>
              <a:ext cx="6143426" cy="3174543"/>
            </a:xfrm>
            <a:prstGeom prst="rect">
              <a:avLst/>
            </a:prstGeom>
            <a:noFill/>
            <a:ln>
              <a:noFill/>
            </a:ln>
          </p:spPr>
        </p:pic>
        <p:sp>
          <p:nvSpPr>
            <p:cNvPr id="162" name="Google Shape;162;p20"/>
            <p:cNvSpPr txBox="1"/>
            <p:nvPr/>
          </p:nvSpPr>
          <p:spPr>
            <a:xfrm>
              <a:off x="1182455" y="6176153"/>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Landsat 7 -2005</a:t>
              </a:r>
              <a:endParaRPr/>
            </a:p>
          </p:txBody>
        </p:sp>
      </p:grpSp>
      <p:sp>
        <p:nvSpPr>
          <p:cNvPr id="163" name="Google Shape;163;p20"/>
          <p:cNvSpPr txBox="1"/>
          <p:nvPr/>
        </p:nvSpPr>
        <p:spPr>
          <a:xfrm>
            <a:off x="7277303" y="6392078"/>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Landsat 8 -2013</a:t>
            </a:r>
            <a:endParaRPr/>
          </a:p>
        </p:txBody>
      </p:sp>
      <p:pic>
        <p:nvPicPr>
          <p:cNvPr id="164" name="Google Shape;164;p20"/>
          <p:cNvPicPr preferRelativeResize="0"/>
          <p:nvPr/>
        </p:nvPicPr>
        <p:blipFill rotWithShape="1">
          <a:blip r:embed="rId5">
            <a:alphaModFix/>
          </a:blip>
          <a:srcRect b="0" l="0" r="0" t="0"/>
          <a:stretch/>
        </p:blipFill>
        <p:spPr>
          <a:xfrm>
            <a:off x="6855948" y="2558557"/>
            <a:ext cx="4974366" cy="36793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Increased evaporation, coupled with reduced groundwater inflow and precipitation, has led to the foaming of water.  (Photographs: Neha Mungekar)" id="169" name="Google Shape;169;p21"/>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70" name="Google Shape;170;p21"/>
          <p:cNvSpPr txBox="1"/>
          <p:nvPr/>
        </p:nvSpPr>
        <p:spPr>
          <a:xfrm>
            <a:off x="0" y="68888"/>
            <a:ext cx="11631561" cy="215443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Methodology-Training Samples Manager</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342900" lvl="0" marL="342900" marR="0" rtl="0" algn="ctr">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Designate/train ambiguous and uniform areas of Water and “Barren” land</a:t>
            </a:r>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grpSp>
        <p:nvGrpSpPr>
          <p:cNvPr id="171" name="Google Shape;171;p21"/>
          <p:cNvGrpSpPr/>
          <p:nvPr/>
        </p:nvGrpSpPr>
        <p:grpSpPr>
          <a:xfrm>
            <a:off x="50352" y="2080727"/>
            <a:ext cx="12141648" cy="4708385"/>
            <a:chOff x="50352" y="2080727"/>
            <a:chExt cx="12141648" cy="4708385"/>
          </a:xfrm>
        </p:grpSpPr>
        <p:pic>
          <p:nvPicPr>
            <p:cNvPr id="172" name="Google Shape;172;p21"/>
            <p:cNvPicPr preferRelativeResize="0"/>
            <p:nvPr/>
          </p:nvPicPr>
          <p:blipFill rotWithShape="1">
            <a:blip r:embed="rId4">
              <a:alphaModFix/>
            </a:blip>
            <a:srcRect b="0" l="0" r="0" t="0"/>
            <a:stretch/>
          </p:blipFill>
          <p:spPr>
            <a:xfrm>
              <a:off x="50352" y="2080727"/>
              <a:ext cx="12141648" cy="4708385"/>
            </a:xfrm>
            <a:prstGeom prst="rect">
              <a:avLst/>
            </a:prstGeom>
            <a:noFill/>
            <a:ln>
              <a:noFill/>
            </a:ln>
          </p:spPr>
        </p:pic>
        <p:sp>
          <p:nvSpPr>
            <p:cNvPr id="173" name="Google Shape;173;p21"/>
            <p:cNvSpPr/>
            <p:nvPr/>
          </p:nvSpPr>
          <p:spPr>
            <a:xfrm>
              <a:off x="7791061" y="5253136"/>
              <a:ext cx="251927" cy="242596"/>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21"/>
            <p:cNvSpPr/>
            <p:nvPr/>
          </p:nvSpPr>
          <p:spPr>
            <a:xfrm>
              <a:off x="4973216" y="3069771"/>
              <a:ext cx="475862" cy="1035698"/>
            </a:xfrm>
            <a:custGeom>
              <a:rect b="b" l="l" r="r" t="t"/>
              <a:pathLst>
                <a:path extrusionOk="0" h="1035698" w="475862">
                  <a:moveTo>
                    <a:pt x="0" y="186613"/>
                  </a:moveTo>
                  <a:lnTo>
                    <a:pt x="46653" y="802433"/>
                  </a:lnTo>
                  <a:lnTo>
                    <a:pt x="214604" y="1035698"/>
                  </a:lnTo>
                  <a:lnTo>
                    <a:pt x="447870" y="923731"/>
                  </a:lnTo>
                  <a:lnTo>
                    <a:pt x="475862" y="802433"/>
                  </a:lnTo>
                  <a:lnTo>
                    <a:pt x="438539" y="186613"/>
                  </a:lnTo>
                  <a:lnTo>
                    <a:pt x="223935" y="0"/>
                  </a:lnTo>
                  <a:lnTo>
                    <a:pt x="0" y="186613"/>
                  </a:lnTo>
                  <a:close/>
                </a:path>
              </a:pathLst>
            </a:cu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21"/>
            <p:cNvSpPr/>
            <p:nvPr/>
          </p:nvSpPr>
          <p:spPr>
            <a:xfrm>
              <a:off x="5211147" y="5495732"/>
              <a:ext cx="704461" cy="670938"/>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21"/>
            <p:cNvSpPr/>
            <p:nvPr/>
          </p:nvSpPr>
          <p:spPr>
            <a:xfrm>
              <a:off x="8993156" y="3384513"/>
              <a:ext cx="475862" cy="444237"/>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Increased evaporation, coupled with reduced groundwater inflow and precipitation, has led to the foaming of water.  (Photographs: Neha Mungekar)" id="181" name="Google Shape;181;p22"/>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82" name="Google Shape;182;p22"/>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Methodology-Pixel Classification</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183" name="Google Shape;183;p22"/>
          <p:cNvPicPr preferRelativeResize="0"/>
          <p:nvPr/>
        </p:nvPicPr>
        <p:blipFill rotWithShape="1">
          <a:blip r:embed="rId4">
            <a:alphaModFix/>
          </a:blip>
          <a:srcRect b="0" l="0" r="0" t="0"/>
          <a:stretch/>
        </p:blipFill>
        <p:spPr>
          <a:xfrm>
            <a:off x="6095999" y="1380412"/>
            <a:ext cx="5982053" cy="4750316"/>
          </a:xfrm>
          <a:prstGeom prst="rect">
            <a:avLst/>
          </a:prstGeom>
          <a:noFill/>
          <a:ln>
            <a:noFill/>
          </a:ln>
        </p:spPr>
      </p:pic>
      <p:pic>
        <p:nvPicPr>
          <p:cNvPr id="184" name="Google Shape;184;p22"/>
          <p:cNvPicPr preferRelativeResize="0"/>
          <p:nvPr/>
        </p:nvPicPr>
        <p:blipFill rotWithShape="1">
          <a:blip r:embed="rId5">
            <a:alphaModFix/>
          </a:blip>
          <a:srcRect b="0" l="0" r="0" t="0"/>
          <a:stretch/>
        </p:blipFill>
        <p:spPr>
          <a:xfrm>
            <a:off x="-2" y="1380412"/>
            <a:ext cx="5535561" cy="47503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Increased evaporation, coupled with reduced groundwater inflow and precipitation, has led to the foaming of water.  (Photographs: Neha Mungekar)" id="189" name="Google Shape;189;p23"/>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190" name="Google Shape;190;p23"/>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“Touch Up”- Reclassification</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191" name="Google Shape;191;p23"/>
          <p:cNvPicPr preferRelativeResize="0"/>
          <p:nvPr/>
        </p:nvPicPr>
        <p:blipFill rotWithShape="1">
          <a:blip r:embed="rId4">
            <a:alphaModFix/>
          </a:blip>
          <a:srcRect b="0" l="0" r="0" t="0"/>
          <a:stretch/>
        </p:blipFill>
        <p:spPr>
          <a:xfrm>
            <a:off x="113948" y="1558211"/>
            <a:ext cx="5859812" cy="4117987"/>
          </a:xfrm>
          <a:prstGeom prst="rect">
            <a:avLst/>
          </a:prstGeom>
          <a:noFill/>
          <a:ln>
            <a:noFill/>
          </a:ln>
        </p:spPr>
      </p:pic>
      <p:pic>
        <p:nvPicPr>
          <p:cNvPr id="192" name="Google Shape;192;p23"/>
          <p:cNvPicPr preferRelativeResize="0"/>
          <p:nvPr/>
        </p:nvPicPr>
        <p:blipFill rotWithShape="1">
          <a:blip r:embed="rId5">
            <a:alphaModFix/>
          </a:blip>
          <a:srcRect b="0" l="0" r="0" t="0"/>
          <a:stretch/>
        </p:blipFill>
        <p:spPr>
          <a:xfrm>
            <a:off x="6096000" y="1460263"/>
            <a:ext cx="6007574" cy="4215935"/>
          </a:xfrm>
          <a:prstGeom prst="rect">
            <a:avLst/>
          </a:prstGeom>
          <a:noFill/>
          <a:ln>
            <a:noFill/>
          </a:ln>
        </p:spPr>
      </p:pic>
      <p:sp>
        <p:nvSpPr>
          <p:cNvPr id="193" name="Google Shape;193;p23"/>
          <p:cNvSpPr txBox="1"/>
          <p:nvPr/>
        </p:nvSpPr>
        <p:spPr>
          <a:xfrm>
            <a:off x="7033959" y="6019389"/>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Relassification</a:t>
            </a:r>
            <a:endParaRPr b="1" sz="2000">
              <a:solidFill>
                <a:srgbClr val="FF0000"/>
              </a:solidFill>
              <a:latin typeface="Calibri"/>
              <a:ea typeface="Calibri"/>
              <a:cs typeface="Calibri"/>
              <a:sym typeface="Calibri"/>
            </a:endParaRPr>
          </a:p>
        </p:txBody>
      </p:sp>
      <p:sp>
        <p:nvSpPr>
          <p:cNvPr id="194" name="Google Shape;194;p23"/>
          <p:cNvSpPr txBox="1"/>
          <p:nvPr/>
        </p:nvSpPr>
        <p:spPr>
          <a:xfrm>
            <a:off x="989623" y="6019389"/>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Initial Classification</a:t>
            </a:r>
            <a:endParaRPr/>
          </a:p>
        </p:txBody>
      </p:sp>
      <p:sp>
        <p:nvSpPr>
          <p:cNvPr id="195" name="Google Shape;195;p23"/>
          <p:cNvSpPr/>
          <p:nvPr/>
        </p:nvSpPr>
        <p:spPr>
          <a:xfrm>
            <a:off x="1810139" y="3144416"/>
            <a:ext cx="391885" cy="1287625"/>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Increased evaporation, coupled with reduced groundwater inflow and precipitation, has led to the foaming of water.  (Photographs: Neha Mungekar)" id="200" name="Google Shape;200;p24"/>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201" name="Google Shape;201;p24"/>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Flash Function</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sp>
        <p:nvSpPr>
          <p:cNvPr id="202" name="Google Shape;202;p24"/>
          <p:cNvSpPr txBox="1"/>
          <p:nvPr/>
        </p:nvSpPr>
        <p:spPr>
          <a:xfrm>
            <a:off x="3816799" y="761385"/>
            <a:ext cx="413165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0000"/>
                </a:solidFill>
                <a:latin typeface="Calibri"/>
                <a:ea typeface="Calibri"/>
                <a:cs typeface="Calibri"/>
                <a:sym typeface="Calibri"/>
              </a:rPr>
              <a:t>Compare 2013 vs 2021</a:t>
            </a:r>
            <a:endParaRPr/>
          </a:p>
        </p:txBody>
      </p:sp>
      <p:pic>
        <p:nvPicPr>
          <p:cNvPr descr="GIS animation comparing 2 years of coastline change-Aral Sea, Kazakhstan" id="203" name="Google Shape;203;p24" title="Aral Haniff2   Map   ArcGIS Pro 2021 11 26 16 55 57">
            <a:hlinkClick r:id="rId4"/>
          </p:cNvPr>
          <p:cNvPicPr preferRelativeResize="0"/>
          <p:nvPr/>
        </p:nvPicPr>
        <p:blipFill>
          <a:blip r:embed="rId5">
            <a:alphaModFix/>
          </a:blip>
          <a:stretch>
            <a:fillRect/>
          </a:stretch>
        </p:blipFill>
        <p:spPr>
          <a:xfrm>
            <a:off x="1495925" y="1284600"/>
            <a:ext cx="9780750" cy="5501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Increased evaporation, coupled with reduced groundwater inflow and precipitation, has led to the foaming of water.  (Photographs: Neha Mungekar)" id="208" name="Google Shape;208;p25"/>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209" name="Google Shape;209;p25"/>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Flash Function</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sp>
        <p:nvSpPr>
          <p:cNvPr id="210" name="Google Shape;210;p25"/>
          <p:cNvSpPr txBox="1"/>
          <p:nvPr/>
        </p:nvSpPr>
        <p:spPr>
          <a:xfrm>
            <a:off x="2274812" y="802860"/>
            <a:ext cx="708193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FF0000"/>
                </a:solidFill>
                <a:latin typeface="Calibri"/>
                <a:ea typeface="Calibri"/>
                <a:cs typeface="Calibri"/>
                <a:sym typeface="Calibri"/>
              </a:rPr>
              <a:t>Compare Classification to Imagery</a:t>
            </a:r>
            <a:endParaRPr/>
          </a:p>
        </p:txBody>
      </p:sp>
      <p:pic>
        <p:nvPicPr>
          <p:cNvPr descr="GIS animation comparing 2 years of coastline change-Aral Sea, Kazakhstan" id="211" name="Google Shape;211;p25" title="Aral Haniff2   Map   ArcGIS Pro 2021 11 26 16 55 57">
            <a:hlinkClick r:id="rId4"/>
          </p:cNvPr>
          <p:cNvPicPr preferRelativeResize="0"/>
          <p:nvPr/>
        </p:nvPicPr>
        <p:blipFill>
          <a:blip r:embed="rId5">
            <a:alphaModFix/>
          </a:blip>
          <a:stretch>
            <a:fillRect/>
          </a:stretch>
        </p:blipFill>
        <p:spPr>
          <a:xfrm>
            <a:off x="1230111" y="1525000"/>
            <a:ext cx="9480889" cy="533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Increased evaporation, coupled with reduced groundwater inflow and precipitation, has led to the foaming of water.  (Photographs: Neha Mungekar)" id="216" name="Google Shape;216;p26"/>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217" name="Google Shape;217;p26"/>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Difference Layer</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218" name="Google Shape;218;p26"/>
          <p:cNvPicPr preferRelativeResize="0"/>
          <p:nvPr/>
        </p:nvPicPr>
        <p:blipFill rotWithShape="1">
          <a:blip r:embed="rId4">
            <a:alphaModFix/>
          </a:blip>
          <a:srcRect b="0" l="0" r="0" t="0"/>
          <a:stretch/>
        </p:blipFill>
        <p:spPr>
          <a:xfrm>
            <a:off x="631389" y="764444"/>
            <a:ext cx="10929221" cy="572415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Increased evaporation, coupled with reduced groundwater inflow and precipitation, has led to the foaming of water.  (Photographs: Neha Mungekar)" id="223" name="Google Shape;223;p27"/>
          <p:cNvPicPr preferRelativeResize="0"/>
          <p:nvPr/>
        </p:nvPicPr>
        <p:blipFill rotWithShape="1">
          <a:blip r:embed="rId3">
            <a:alphaModFix amt="19000"/>
          </a:blip>
          <a:srcRect b="0" l="0" r="0" t="0"/>
          <a:stretch/>
        </p:blipFill>
        <p:spPr>
          <a:xfrm>
            <a:off x="1" y="0"/>
            <a:ext cx="12191999" cy="6858000"/>
          </a:xfrm>
          <a:prstGeom prst="rect">
            <a:avLst/>
          </a:prstGeom>
          <a:noFill/>
          <a:ln>
            <a:noFill/>
          </a:ln>
        </p:spPr>
      </p:pic>
      <p:sp>
        <p:nvSpPr>
          <p:cNvPr id="224" name="Google Shape;224;p27"/>
          <p:cNvSpPr txBox="1"/>
          <p:nvPr/>
        </p:nvSpPr>
        <p:spPr>
          <a:xfrm>
            <a:off x="0" y="68888"/>
            <a:ext cx="11631561" cy="1785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Difference Layer</a:t>
            </a:r>
            <a:endParaRPr/>
          </a:p>
          <a:p>
            <a:pPr indent="-444500" lvl="0" marL="571500" marR="0" rtl="0" algn="l">
              <a:spcBef>
                <a:spcPts val="0"/>
              </a:spcBef>
              <a:spcAft>
                <a:spcPts val="0"/>
              </a:spcAft>
              <a:buClr>
                <a:schemeClr val="dk1"/>
              </a:buClr>
              <a:buSzPts val="2000"/>
              <a:buFont typeface="Arial"/>
              <a:buNone/>
            </a:pPr>
            <a:r>
              <a:t/>
            </a:r>
            <a:endParaRPr b="1" sz="2000" u="sng">
              <a:solidFill>
                <a:schemeClr val="dk1"/>
              </a:solidFill>
              <a:latin typeface="Calibri"/>
              <a:ea typeface="Calibri"/>
              <a:cs typeface="Calibri"/>
              <a:sym typeface="Calibri"/>
            </a:endParaRPr>
          </a:p>
          <a:p>
            <a:pPr indent="-482600" lvl="1" marL="1028700" marR="0" rtl="0" algn="l">
              <a:spcBef>
                <a:spcPts val="0"/>
              </a:spcBef>
              <a:spcAft>
                <a:spcPts val="0"/>
              </a:spcAft>
              <a:buClr>
                <a:schemeClr val="dk1"/>
              </a:buClr>
              <a:buSzPts val="1400"/>
              <a:buFont typeface="Arial"/>
              <a:buNone/>
            </a:pPr>
            <a:r>
              <a:t/>
            </a:r>
            <a:endParaRPr b="1" i="0" sz="1400" u="none" cap="none" strike="noStrike">
              <a:solidFill>
                <a:schemeClr val="dk1"/>
              </a:solidFill>
              <a:latin typeface="Calibri"/>
              <a:ea typeface="Calibri"/>
              <a:cs typeface="Calibri"/>
              <a:sym typeface="Calibri"/>
            </a:endParaRPr>
          </a:p>
          <a:p>
            <a:pPr indent="-342900" lvl="0" marL="571500" marR="0" rtl="0" algn="l">
              <a:spcBef>
                <a:spcPts val="0"/>
              </a:spcBef>
              <a:spcAft>
                <a:spcPts val="0"/>
              </a:spcAft>
              <a:buClr>
                <a:schemeClr val="dk1"/>
              </a:buClr>
              <a:buSzPts val="3600"/>
              <a:buFont typeface="Arial"/>
              <a:buNone/>
            </a:pPr>
            <a:r>
              <a:t/>
            </a:r>
            <a:endParaRPr b="1" sz="3600">
              <a:solidFill>
                <a:schemeClr val="dk1"/>
              </a:solidFill>
              <a:latin typeface="Calibri"/>
              <a:ea typeface="Calibri"/>
              <a:cs typeface="Calibri"/>
              <a:sym typeface="Calibri"/>
            </a:endParaRPr>
          </a:p>
        </p:txBody>
      </p:sp>
      <p:pic>
        <p:nvPicPr>
          <p:cNvPr id="225" name="Google Shape;225;p27"/>
          <p:cNvPicPr preferRelativeResize="0"/>
          <p:nvPr/>
        </p:nvPicPr>
        <p:blipFill rotWithShape="1">
          <a:blip r:embed="rId4">
            <a:alphaModFix/>
          </a:blip>
          <a:srcRect b="0" l="0" r="0" t="0"/>
          <a:stretch/>
        </p:blipFill>
        <p:spPr>
          <a:xfrm>
            <a:off x="317587" y="884348"/>
            <a:ext cx="11131074" cy="5973652"/>
          </a:xfrm>
          <a:prstGeom prst="rect">
            <a:avLst/>
          </a:prstGeom>
          <a:noFill/>
          <a:ln>
            <a:noFill/>
          </a:ln>
        </p:spPr>
      </p:pic>
      <p:sp>
        <p:nvSpPr>
          <p:cNvPr id="226" name="Google Shape;226;p27"/>
          <p:cNvSpPr txBox="1"/>
          <p:nvPr/>
        </p:nvSpPr>
        <p:spPr>
          <a:xfrm>
            <a:off x="2529174" y="3955886"/>
            <a:ext cx="413165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Calibri"/>
                <a:ea typeface="Calibri"/>
                <a:cs typeface="Calibri"/>
                <a:sym typeface="Calibri"/>
              </a:rPr>
              <a:t>Ave=448.61 ft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Increased evaporation, coupled with reduced groundwater inflow and precipitation, has led to the foaming of water.  (Photographs: Neha Mungekar)" id="231" name="Google Shape;231;p28"/>
          <p:cNvPicPr preferRelativeResize="0"/>
          <p:nvPr/>
        </p:nvPicPr>
        <p:blipFill rotWithShape="1">
          <a:blip r:embed="rId3">
            <a:alphaModFix amt="19000"/>
          </a:blip>
          <a:srcRect b="0" l="0" r="0" t="0"/>
          <a:stretch/>
        </p:blipFill>
        <p:spPr>
          <a:xfrm>
            <a:off x="0" y="8930"/>
            <a:ext cx="12191999" cy="6858000"/>
          </a:xfrm>
          <a:prstGeom prst="rect">
            <a:avLst/>
          </a:prstGeom>
          <a:noFill/>
          <a:ln>
            <a:noFill/>
          </a:ln>
        </p:spPr>
      </p:pic>
      <p:sp>
        <p:nvSpPr>
          <p:cNvPr id="232" name="Google Shape;232;p28"/>
          <p:cNvSpPr txBox="1"/>
          <p:nvPr/>
        </p:nvSpPr>
        <p:spPr>
          <a:xfrm>
            <a:off x="280219" y="0"/>
            <a:ext cx="11631561"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Summary</a:t>
            </a:r>
            <a:endParaRPr/>
          </a:p>
        </p:txBody>
      </p:sp>
      <p:pic>
        <p:nvPicPr>
          <p:cNvPr id="233" name="Google Shape;233;p28"/>
          <p:cNvPicPr preferRelativeResize="0"/>
          <p:nvPr/>
        </p:nvPicPr>
        <p:blipFill rotWithShape="1">
          <a:blip r:embed="rId4">
            <a:alphaModFix/>
          </a:blip>
          <a:srcRect b="0" l="0" r="0" t="0"/>
          <a:stretch/>
        </p:blipFill>
        <p:spPr>
          <a:xfrm>
            <a:off x="7267118" y="867747"/>
            <a:ext cx="4784772" cy="6271141"/>
          </a:xfrm>
          <a:prstGeom prst="rect">
            <a:avLst/>
          </a:prstGeom>
          <a:noFill/>
          <a:ln>
            <a:noFill/>
          </a:ln>
        </p:spPr>
      </p:pic>
      <p:sp>
        <p:nvSpPr>
          <p:cNvPr id="234" name="Google Shape;234;p28"/>
          <p:cNvSpPr txBox="1"/>
          <p:nvPr/>
        </p:nvSpPr>
        <p:spPr>
          <a:xfrm>
            <a:off x="-1429" y="867747"/>
            <a:ext cx="7268547" cy="590931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Level of change in coastline has decreased (unexpected) in region of interest</a:t>
            </a:r>
            <a:endParaRPr/>
          </a:p>
          <a:p>
            <a:pPr indent="-133350" lvl="0" marL="285750" marR="0" rtl="0" algn="l">
              <a:spcBef>
                <a:spcPts val="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Elevation plays role is water level / coastline change</a:t>
            </a:r>
            <a:endParaRPr/>
          </a:p>
          <a:p>
            <a:pPr indent="-133350" lvl="0" marL="285750" marR="0" rtl="0" algn="l">
              <a:spcBef>
                <a:spcPts val="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Dam may have reached maximum effectiveness</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Evaporation &gt; Dam effects</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Compounded by climate change</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Precipitation</a:t>
            </a:r>
            <a:endParaRPr/>
          </a:p>
          <a:p>
            <a:pPr indent="-133350" lvl="1" marL="74295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Year by year study more meaningful for Dam effects</a:t>
            </a:r>
            <a:endParaRPr/>
          </a:p>
          <a:p>
            <a:pPr indent="-285750" lvl="1" marL="74295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Data Availability &amp; Resolution</a:t>
            </a:r>
            <a:endParaRPr/>
          </a:p>
          <a:p>
            <a:pPr indent="-133350" lvl="1" marL="742950" marR="0" rtl="0" algn="l">
              <a:spcBef>
                <a:spcPts val="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Confirmed-Dam needs increase in height of at least 7’</a:t>
            </a:r>
            <a:endParaRPr/>
          </a:p>
          <a:p>
            <a:pPr indent="-133350" lvl="0" marL="285750" marR="0" rtl="0" algn="l">
              <a:spcBef>
                <a:spcPts val="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Increased evaporation, coupled with reduced groundwater inflow and precipitation, has led to the foaming of water.  (Photographs: Neha Mungekar)" id="239" name="Google Shape;239;p29"/>
          <p:cNvPicPr preferRelativeResize="0"/>
          <p:nvPr/>
        </p:nvPicPr>
        <p:blipFill rotWithShape="1">
          <a:blip r:embed="rId3">
            <a:alphaModFix amt="19000"/>
          </a:blip>
          <a:srcRect b="0" l="0" r="0" t="0"/>
          <a:stretch/>
        </p:blipFill>
        <p:spPr>
          <a:xfrm>
            <a:off x="0" y="0"/>
            <a:ext cx="12191999" cy="6858000"/>
          </a:xfrm>
          <a:prstGeom prst="rect">
            <a:avLst/>
          </a:prstGeom>
          <a:noFill/>
          <a:ln>
            <a:noFill/>
          </a:ln>
        </p:spPr>
      </p:pic>
      <p:sp>
        <p:nvSpPr>
          <p:cNvPr id="240" name="Google Shape;240;p29"/>
          <p:cNvSpPr txBox="1"/>
          <p:nvPr/>
        </p:nvSpPr>
        <p:spPr>
          <a:xfrm>
            <a:off x="280218" y="102637"/>
            <a:ext cx="11631561" cy="553997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Abstract</a:t>
            </a:r>
            <a:endParaRPr/>
          </a:p>
          <a:p>
            <a:pPr indent="-406400" lvl="0" marL="571500" marR="0" rtl="0" algn="l">
              <a:spcBef>
                <a:spcPts val="0"/>
              </a:spcBef>
              <a:spcAft>
                <a:spcPts val="0"/>
              </a:spcAft>
              <a:buClr>
                <a:schemeClr val="dk1"/>
              </a:buClr>
              <a:buSzPts val="2600"/>
              <a:buFont typeface="Arial"/>
              <a:buNone/>
            </a:pPr>
            <a:r>
              <a:t/>
            </a:r>
            <a:endParaRPr b="1" sz="2600">
              <a:solidFill>
                <a:schemeClr val="dk1"/>
              </a:solidFill>
              <a:latin typeface="Calibri"/>
              <a:ea typeface="Calibri"/>
              <a:cs typeface="Calibri"/>
              <a:sym typeface="Calibri"/>
            </a:endParaRPr>
          </a:p>
          <a:p>
            <a:pPr indent="0" lvl="1" marL="45720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The story of the greatest man-made environmental disaster in know history is told by the Aral Sea (a large-inland lake). The 1950’s Soviet diversion of source rivers for purpose of cotton and wheat irrigation reduced the sea to 10% of it’s original size today (2021). The decision to sacrifice the southern portion of the Aral Sea to restore the northern portion was made in 2003. Kokaral Dam (built 2005) raised the sea level and started the rebuilding of local communities. An effort to approximate the change in surface area (coastline increase) was attempted with Raster Analysis, using ESRI’s ArcGIS Pro and accompanying satellite data from the USGS. Satellite images were gathered from earliest sources since the Dam’s inception and then compared to most recent available data. Data was converted to raster and pixel classified into “barren land” and “water”. Results show the coastline has unexpectedly decreased by ~ 445 ft between 2015 and 2021.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Increased evaporation, coupled with reduced groundwater inflow and precipitation, has led to the foaming of water.  (Photographs: Neha Mungekar)" id="245" name="Google Shape;245;p30"/>
          <p:cNvPicPr preferRelativeResize="0"/>
          <p:nvPr/>
        </p:nvPicPr>
        <p:blipFill rotWithShape="1">
          <a:blip r:embed="rId3">
            <a:alphaModFix amt="19000"/>
          </a:blip>
          <a:srcRect b="0" l="0" r="0" t="0"/>
          <a:stretch/>
        </p:blipFill>
        <p:spPr>
          <a:xfrm>
            <a:off x="0" y="0"/>
            <a:ext cx="12191999" cy="6858000"/>
          </a:xfrm>
          <a:prstGeom prst="rect">
            <a:avLst/>
          </a:prstGeom>
          <a:noFill/>
          <a:ln>
            <a:noFill/>
          </a:ln>
        </p:spPr>
      </p:pic>
      <p:sp>
        <p:nvSpPr>
          <p:cNvPr id="246" name="Google Shape;246;p30"/>
          <p:cNvSpPr txBox="1"/>
          <p:nvPr/>
        </p:nvSpPr>
        <p:spPr>
          <a:xfrm>
            <a:off x="280218" y="102637"/>
            <a:ext cx="11631561" cy="58169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dk1"/>
                </a:solidFill>
                <a:latin typeface="Calibri"/>
                <a:ea typeface="Calibri"/>
                <a:cs typeface="Calibri"/>
                <a:sym typeface="Calibri"/>
              </a:rPr>
              <a:t>Sources</a:t>
            </a:r>
            <a:endParaRPr/>
          </a:p>
          <a:p>
            <a:pPr indent="-406400" lvl="0" marL="571500" marR="0" rtl="0" algn="l">
              <a:spcBef>
                <a:spcPts val="0"/>
              </a:spcBef>
              <a:spcAft>
                <a:spcPts val="0"/>
              </a:spcAft>
              <a:buClr>
                <a:schemeClr val="dk1"/>
              </a:buClr>
              <a:buSzPts val="2600"/>
              <a:buFont typeface="Arial"/>
              <a:buNone/>
            </a:pPr>
            <a:r>
              <a:t/>
            </a:r>
            <a:endParaRPr b="1" sz="26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Restoring Life in the Aral Sea’s Dead Zone, BBC News, June 1, 2018</a:t>
            </a:r>
            <a:endParaRPr/>
          </a:p>
          <a:p>
            <a:pPr indent="0" lvl="1" marL="45720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Rustam Qobil &amp; Paul Harris, BBC Uzbekistan </a:t>
            </a:r>
            <a:endParaRPr/>
          </a:p>
          <a:p>
            <a:pPr indent="0" lvl="1" marL="457200" marR="0" rtl="0" algn="l">
              <a:spcBef>
                <a:spcPts val="0"/>
              </a:spcBef>
              <a:spcAft>
                <a:spcPts val="0"/>
              </a:spcAft>
              <a:buNone/>
            </a:pPr>
            <a:r>
              <a:rPr b="1" i="0" lang="en-US" sz="1800" u="sng" cap="none" strike="noStrike">
                <a:solidFill>
                  <a:schemeClr val="hlink"/>
                </a:solidFill>
                <a:latin typeface="Calibri"/>
                <a:ea typeface="Calibri"/>
                <a:cs typeface="Calibri"/>
                <a:sym typeface="Calibri"/>
                <a:hlinkClick r:id="rId4"/>
              </a:rPr>
              <a:t>https://www.bbc.com/news/business-44159122</a:t>
            </a:r>
            <a:endParaRPr b="1" i="0" sz="1800" u="none" cap="none" strike="noStrike">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None/>
            </a:pPr>
            <a:r>
              <a:t/>
            </a:r>
            <a:endParaRPr b="1" i="0" sz="1800" u="none" cap="none" strike="noStrike">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“Performing Supervised Pixel-Based Image Classification”</a:t>
            </a:r>
            <a:endParaRPr/>
          </a:p>
          <a:p>
            <a:pPr indent="0" lvl="1" marL="45720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Esri Academy, online course</a:t>
            </a:r>
            <a:endParaRPr/>
          </a:p>
          <a:p>
            <a:pPr indent="0" lvl="1" marL="457200" marR="0" rtl="0" algn="l">
              <a:spcBef>
                <a:spcPts val="0"/>
              </a:spcBef>
              <a:spcAft>
                <a:spcPts val="0"/>
              </a:spcAft>
              <a:buNone/>
            </a:pPr>
            <a:r>
              <a:rPr b="1" i="0" lang="en-US" sz="1800" u="sng" cap="none" strike="noStrike">
                <a:solidFill>
                  <a:schemeClr val="hlink"/>
                </a:solidFill>
                <a:latin typeface="Calibri"/>
                <a:ea typeface="Calibri"/>
                <a:cs typeface="Calibri"/>
                <a:sym typeface="Calibri"/>
                <a:hlinkClick r:id="rId5"/>
              </a:rPr>
              <a:t>https://www.esri.com/training/catalog/5c75869c65e21d6e2187b712/performing-supervised-pixel-based-image-classification/</a:t>
            </a:r>
            <a:endParaRPr b="1" i="0" sz="1800" u="none" cap="none" strike="noStrike">
              <a:solidFill>
                <a:schemeClr val="dk1"/>
              </a:solidFill>
              <a:latin typeface="Calibri"/>
              <a:ea typeface="Calibri"/>
              <a:cs typeface="Calibri"/>
              <a:sym typeface="Calibri"/>
            </a:endParaRPr>
          </a:p>
          <a:p>
            <a:pPr indent="-342900" lvl="1" marL="914400" marR="0" rtl="0" algn="l">
              <a:spcBef>
                <a:spcPts val="0"/>
              </a:spcBef>
              <a:spcAft>
                <a:spcPts val="0"/>
              </a:spcAft>
              <a:buClr>
                <a:schemeClr val="dk1"/>
              </a:buClr>
              <a:buSzPts val="1800"/>
              <a:buFont typeface="Calibri"/>
              <a:buNone/>
            </a:pPr>
            <a:r>
              <a:t/>
            </a:r>
            <a:endParaRPr b="1" i="0" sz="1800" u="none" cap="none" strike="noStrike">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Glovis Web App, USGS, Landsat Imagery Database</a:t>
            </a:r>
            <a:endParaRPr/>
          </a:p>
          <a:p>
            <a:pPr indent="0" lvl="1" marL="457200" marR="0" rtl="0" algn="l">
              <a:spcBef>
                <a:spcPts val="0"/>
              </a:spcBef>
              <a:spcAft>
                <a:spcPts val="0"/>
              </a:spcAft>
              <a:buNone/>
            </a:pPr>
            <a:r>
              <a:rPr b="1" i="0" lang="en-US" sz="1800" u="sng" cap="none" strike="noStrike">
                <a:solidFill>
                  <a:schemeClr val="hlink"/>
                </a:solidFill>
                <a:latin typeface="Calibri"/>
                <a:ea typeface="Calibri"/>
                <a:cs typeface="Calibri"/>
                <a:sym typeface="Calibri"/>
                <a:hlinkClick r:id="rId6"/>
              </a:rPr>
              <a:t>https://glovis.usgs.gov/app?fullscreen=0</a:t>
            </a:r>
            <a:endParaRPr b="1"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1" i="0" sz="1800" u="none" cap="none" strike="noStrike">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Northern Aral's promise stunted by dam height, international disputes, Astana Times, Aliya Uteuova, Oct 2020</a:t>
            </a:r>
            <a:endParaRPr/>
          </a:p>
          <a:p>
            <a:pPr indent="403225" lvl="0" marL="0" marR="0" rtl="0" algn="l">
              <a:spcBef>
                <a:spcPts val="0"/>
              </a:spcBef>
              <a:spcAft>
                <a:spcPts val="0"/>
              </a:spcAft>
              <a:buNone/>
            </a:pPr>
            <a:r>
              <a:rPr b="1" lang="en-US" sz="1800" u="sng">
                <a:solidFill>
                  <a:schemeClr val="hlink"/>
                </a:solidFill>
                <a:latin typeface="Calibri"/>
                <a:ea typeface="Calibri"/>
                <a:cs typeface="Calibri"/>
                <a:sym typeface="Calibri"/>
                <a:hlinkClick r:id="rId7"/>
              </a:rPr>
              <a:t>https://eurasianet.org/northern-arals-promise-stunted-by-dam-height-international-disputes</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startAt="5"/>
            </a:pPr>
            <a:r>
              <a:rPr b="1" lang="en-US" sz="1800">
                <a:solidFill>
                  <a:schemeClr val="dk1"/>
                </a:solidFill>
                <a:latin typeface="Calibri"/>
                <a:ea typeface="Calibri"/>
                <a:cs typeface="Calibri"/>
                <a:sym typeface="Calibri"/>
              </a:rPr>
              <a:t>Dr. Jeff Tolhurst, Columbia College Department of Geosciences, Sonora CA 95370 </a:t>
            </a:r>
            <a:endParaRPr/>
          </a:p>
          <a:p>
            <a:pPr indent="34290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Facing up to the challenges of the fast disappearing Aral Sea | Euronews" id="251" name="Google Shape;251;p31"/>
          <p:cNvPicPr preferRelativeResize="0"/>
          <p:nvPr/>
        </p:nvPicPr>
        <p:blipFill rotWithShape="1">
          <a:blip r:embed="rId3">
            <a:alphaModFix amt="36000"/>
          </a:blip>
          <a:srcRect b="0" l="0" r="0" t="0"/>
          <a:stretch/>
        </p:blipFill>
        <p:spPr>
          <a:xfrm>
            <a:off x="3810000" y="0"/>
            <a:ext cx="4572000" cy="1179624"/>
          </a:xfrm>
          <a:prstGeom prst="rect">
            <a:avLst/>
          </a:prstGeom>
          <a:noFill/>
          <a:ln>
            <a:noFill/>
          </a:ln>
        </p:spPr>
      </p:pic>
      <p:pic>
        <p:nvPicPr>
          <p:cNvPr id="252" name="Google Shape;252;p31"/>
          <p:cNvPicPr preferRelativeResize="0"/>
          <p:nvPr/>
        </p:nvPicPr>
        <p:blipFill rotWithShape="1">
          <a:blip r:embed="rId4">
            <a:alphaModFix/>
          </a:blip>
          <a:srcRect b="0" l="0" r="0" t="0"/>
          <a:stretch/>
        </p:blipFill>
        <p:spPr>
          <a:xfrm>
            <a:off x="7066244" y="3166417"/>
            <a:ext cx="1133537" cy="1061401"/>
          </a:xfrm>
          <a:prstGeom prst="rect">
            <a:avLst/>
          </a:prstGeom>
          <a:noFill/>
          <a:ln>
            <a:noFill/>
          </a:ln>
        </p:spPr>
      </p:pic>
      <p:grpSp>
        <p:nvGrpSpPr>
          <p:cNvPr id="253" name="Google Shape;253;p31"/>
          <p:cNvGrpSpPr/>
          <p:nvPr/>
        </p:nvGrpSpPr>
        <p:grpSpPr>
          <a:xfrm>
            <a:off x="5053327" y="793448"/>
            <a:ext cx="1577601" cy="935626"/>
            <a:chOff x="186913" y="3211714"/>
            <a:chExt cx="6771835" cy="3646286"/>
          </a:xfrm>
        </p:grpSpPr>
        <p:grpSp>
          <p:nvGrpSpPr>
            <p:cNvPr id="254" name="Google Shape;254;p31"/>
            <p:cNvGrpSpPr/>
            <p:nvPr/>
          </p:nvGrpSpPr>
          <p:grpSpPr>
            <a:xfrm>
              <a:off x="186913" y="3211714"/>
              <a:ext cx="6771835" cy="3646286"/>
              <a:chOff x="186913" y="3211714"/>
              <a:chExt cx="6771835" cy="3646286"/>
            </a:xfrm>
          </p:grpSpPr>
          <p:pic>
            <p:nvPicPr>
              <p:cNvPr id="255" name="Google Shape;255;p31"/>
              <p:cNvPicPr preferRelativeResize="0"/>
              <p:nvPr/>
            </p:nvPicPr>
            <p:blipFill rotWithShape="1">
              <a:blip r:embed="rId5">
                <a:alphaModFix/>
              </a:blip>
              <a:srcRect b="0" l="0" r="0" t="0"/>
              <a:stretch/>
            </p:blipFill>
            <p:spPr>
              <a:xfrm>
                <a:off x="186913" y="3211714"/>
                <a:ext cx="6017903" cy="3511279"/>
              </a:xfrm>
              <a:prstGeom prst="rect">
                <a:avLst/>
              </a:prstGeom>
              <a:noFill/>
              <a:ln>
                <a:noFill/>
              </a:ln>
            </p:spPr>
          </p:pic>
          <p:pic>
            <p:nvPicPr>
              <p:cNvPr id="256" name="Google Shape;256;p31"/>
              <p:cNvPicPr preferRelativeResize="0"/>
              <p:nvPr/>
            </p:nvPicPr>
            <p:blipFill rotWithShape="1">
              <a:blip r:embed="rId6">
                <a:alphaModFix/>
              </a:blip>
              <a:srcRect b="0" l="0" r="0" t="0"/>
              <a:stretch/>
            </p:blipFill>
            <p:spPr>
              <a:xfrm>
                <a:off x="3754217" y="4807974"/>
                <a:ext cx="3204531" cy="2050026"/>
              </a:xfrm>
              <a:prstGeom prst="rect">
                <a:avLst/>
              </a:prstGeom>
              <a:noFill/>
              <a:ln>
                <a:noFill/>
              </a:ln>
            </p:spPr>
          </p:pic>
        </p:grpSp>
        <p:sp>
          <p:nvSpPr>
            <p:cNvPr id="257" name="Google Shape;257;p31"/>
            <p:cNvSpPr/>
            <p:nvPr/>
          </p:nvSpPr>
          <p:spPr>
            <a:xfrm>
              <a:off x="2547257" y="3629608"/>
              <a:ext cx="793102" cy="765110"/>
            </a:xfrm>
            <a:prstGeom prst="ellipse">
              <a:avLst/>
            </a:prstGeom>
            <a:noFill/>
            <a:ln cap="flat" cmpd="sng" w="127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75">
                <a:solidFill>
                  <a:schemeClr val="lt1"/>
                </a:solidFill>
                <a:latin typeface="Calibri"/>
                <a:ea typeface="Calibri"/>
                <a:cs typeface="Calibri"/>
                <a:sym typeface="Calibri"/>
              </a:endParaRPr>
            </a:p>
          </p:txBody>
        </p:sp>
      </p:grpSp>
      <p:pic>
        <p:nvPicPr>
          <p:cNvPr id="258" name="Google Shape;258;p31"/>
          <p:cNvPicPr preferRelativeResize="0"/>
          <p:nvPr/>
        </p:nvPicPr>
        <p:blipFill rotWithShape="1">
          <a:blip r:embed="rId7">
            <a:alphaModFix/>
          </a:blip>
          <a:srcRect b="0" l="0" r="0" t="0"/>
          <a:stretch/>
        </p:blipFill>
        <p:spPr>
          <a:xfrm>
            <a:off x="3837705" y="683574"/>
            <a:ext cx="1179431" cy="1227799"/>
          </a:xfrm>
          <a:prstGeom prst="rect">
            <a:avLst/>
          </a:prstGeom>
          <a:noFill/>
          <a:ln>
            <a:noFill/>
          </a:ln>
        </p:spPr>
      </p:pic>
      <p:grpSp>
        <p:nvGrpSpPr>
          <p:cNvPr id="259" name="Google Shape;259;p31"/>
          <p:cNvGrpSpPr/>
          <p:nvPr/>
        </p:nvGrpSpPr>
        <p:grpSpPr>
          <a:xfrm>
            <a:off x="6653765" y="683575"/>
            <a:ext cx="1733790" cy="1279941"/>
            <a:chOff x="280219" y="963562"/>
            <a:chExt cx="6029325" cy="5752298"/>
          </a:xfrm>
        </p:grpSpPr>
        <p:pic>
          <p:nvPicPr>
            <p:cNvPr descr="map of the aral sea" id="260" name="Google Shape;260;p31"/>
            <p:cNvPicPr preferRelativeResize="0"/>
            <p:nvPr/>
          </p:nvPicPr>
          <p:blipFill rotWithShape="1">
            <a:blip r:embed="rId8">
              <a:alphaModFix/>
            </a:blip>
            <a:srcRect b="0" l="0" r="0" t="0"/>
            <a:stretch/>
          </p:blipFill>
          <p:spPr>
            <a:xfrm>
              <a:off x="280219" y="963562"/>
              <a:ext cx="6029325" cy="5752298"/>
            </a:xfrm>
            <a:prstGeom prst="rect">
              <a:avLst/>
            </a:prstGeom>
            <a:noFill/>
            <a:ln>
              <a:noFill/>
            </a:ln>
          </p:spPr>
        </p:pic>
        <p:cxnSp>
          <p:nvCxnSpPr>
            <p:cNvPr id="261" name="Google Shape;261;p31"/>
            <p:cNvCxnSpPr/>
            <p:nvPr/>
          </p:nvCxnSpPr>
          <p:spPr>
            <a:xfrm>
              <a:off x="3685592" y="4282751"/>
              <a:ext cx="951722" cy="1091682"/>
            </a:xfrm>
            <a:prstGeom prst="straightConnector1">
              <a:avLst/>
            </a:prstGeom>
            <a:noFill/>
            <a:ln cap="flat" cmpd="sng" w="38100">
              <a:solidFill>
                <a:srgbClr val="FF0000"/>
              </a:solidFill>
              <a:prstDash val="solid"/>
              <a:miter lim="800000"/>
              <a:headEnd len="sm" w="sm" type="none"/>
              <a:tailEnd len="sm" w="sm" type="none"/>
            </a:ln>
          </p:spPr>
        </p:cxnSp>
        <p:cxnSp>
          <p:nvCxnSpPr>
            <p:cNvPr id="262" name="Google Shape;262;p31"/>
            <p:cNvCxnSpPr/>
            <p:nvPr/>
          </p:nvCxnSpPr>
          <p:spPr>
            <a:xfrm>
              <a:off x="4060371" y="2620286"/>
              <a:ext cx="838200" cy="598775"/>
            </a:xfrm>
            <a:prstGeom prst="straightConnector1">
              <a:avLst/>
            </a:prstGeom>
            <a:noFill/>
            <a:ln cap="flat" cmpd="sng" w="38100">
              <a:solidFill>
                <a:srgbClr val="FF0000"/>
              </a:solidFill>
              <a:prstDash val="solid"/>
              <a:miter lim="800000"/>
              <a:headEnd len="sm" w="sm" type="none"/>
              <a:tailEnd len="sm" w="sm" type="none"/>
            </a:ln>
          </p:spPr>
        </p:cxnSp>
      </p:grpSp>
      <p:sp>
        <p:nvSpPr>
          <p:cNvPr id="263" name="Google Shape;263;p31"/>
          <p:cNvSpPr txBox="1"/>
          <p:nvPr/>
        </p:nvSpPr>
        <p:spPr>
          <a:xfrm>
            <a:off x="4380959" y="350891"/>
            <a:ext cx="363391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a:solidFill>
                  <a:srgbClr val="FF0000"/>
                </a:solidFill>
                <a:latin typeface="Calibri"/>
                <a:ea typeface="Calibri"/>
                <a:cs typeface="Calibri"/>
                <a:sym typeface="Calibri"/>
              </a:rPr>
              <a:t>Soviet Diversion of Feeding Rivers for Wheat and Cotton Irrigation-late 1950’s</a:t>
            </a:r>
            <a:endParaRPr/>
          </a:p>
        </p:txBody>
      </p:sp>
      <p:pic>
        <p:nvPicPr>
          <p:cNvPr descr="The Disappearing Aral Lake and the Ship Graveyard of Moynaq | Amusing Planet" id="264" name="Google Shape;264;p31"/>
          <p:cNvPicPr preferRelativeResize="0"/>
          <p:nvPr/>
        </p:nvPicPr>
        <p:blipFill rotWithShape="1">
          <a:blip r:embed="rId9">
            <a:alphaModFix/>
          </a:blip>
          <a:srcRect b="0" l="0" r="0" t="0"/>
          <a:stretch/>
        </p:blipFill>
        <p:spPr>
          <a:xfrm>
            <a:off x="6688594" y="1951202"/>
            <a:ext cx="1704953" cy="1141671"/>
          </a:xfrm>
          <a:prstGeom prst="rect">
            <a:avLst/>
          </a:prstGeom>
          <a:noFill/>
          <a:ln>
            <a:noFill/>
          </a:ln>
        </p:spPr>
      </p:pic>
      <p:sp>
        <p:nvSpPr>
          <p:cNvPr id="265" name="Google Shape;265;p31"/>
          <p:cNvSpPr/>
          <p:nvPr/>
        </p:nvSpPr>
        <p:spPr>
          <a:xfrm>
            <a:off x="3659605" y="16130"/>
            <a:ext cx="4706153" cy="365485"/>
          </a:xfrm>
          <a:prstGeom prst="rect">
            <a:avLst/>
          </a:prstGeom>
          <a:noFill/>
          <a:ln>
            <a:noFill/>
          </a:ln>
        </p:spPr>
        <p:txBody>
          <a:bodyPr anchorCtr="0" anchor="t" bIns="9525" lIns="19050" spcFirstLastPara="1" rIns="19050" wrap="square" tIns="9525">
            <a:noAutofit/>
          </a:bodyPr>
          <a:lstStyle/>
          <a:p>
            <a:pPr indent="0" lvl="0" marL="0" marR="0" rtl="0" algn="ctr">
              <a:spcBef>
                <a:spcPts val="0"/>
              </a:spcBef>
              <a:spcAft>
                <a:spcPts val="0"/>
              </a:spcAft>
              <a:buNone/>
            </a:pPr>
            <a:r>
              <a:rPr b="1" lang="en-US" sz="1125">
                <a:solidFill>
                  <a:schemeClr val="lt1"/>
                </a:solidFill>
                <a:latin typeface="Calibri"/>
                <a:ea typeface="Calibri"/>
                <a:cs typeface="Calibri"/>
                <a:sym typeface="Calibri"/>
              </a:rPr>
              <a:t>Using Raster Based GIS to Monitor </a:t>
            </a:r>
            <a:endParaRPr/>
          </a:p>
          <a:p>
            <a:pPr indent="0" lvl="0" marL="0" marR="0" rtl="0" algn="ctr">
              <a:spcBef>
                <a:spcPts val="0"/>
              </a:spcBef>
              <a:spcAft>
                <a:spcPts val="0"/>
              </a:spcAft>
              <a:buNone/>
            </a:pPr>
            <a:r>
              <a:rPr b="1" lang="en-US" sz="1125">
                <a:solidFill>
                  <a:schemeClr val="lt1"/>
                </a:solidFill>
                <a:latin typeface="Calibri"/>
                <a:ea typeface="Calibri"/>
                <a:cs typeface="Calibri"/>
                <a:sym typeface="Calibri"/>
              </a:rPr>
              <a:t>Recovery of Northern Aral Sea, Kazakhstan-T. Haniff, Columbia College</a:t>
            </a:r>
            <a:endParaRPr/>
          </a:p>
        </p:txBody>
      </p:sp>
      <p:pic>
        <p:nvPicPr>
          <p:cNvPr descr="Spillway of Kokaral dam. | Download Scientific Diagram" id="266" name="Google Shape;266;p31"/>
          <p:cNvPicPr preferRelativeResize="0"/>
          <p:nvPr/>
        </p:nvPicPr>
        <p:blipFill rotWithShape="1">
          <a:blip r:embed="rId10">
            <a:alphaModFix/>
          </a:blip>
          <a:srcRect b="0" l="0" r="0" t="0"/>
          <a:stretch/>
        </p:blipFill>
        <p:spPr>
          <a:xfrm>
            <a:off x="3774359" y="3142737"/>
            <a:ext cx="1407831" cy="1043269"/>
          </a:xfrm>
          <a:prstGeom prst="rect">
            <a:avLst/>
          </a:prstGeom>
          <a:noFill/>
          <a:ln>
            <a:noFill/>
          </a:ln>
        </p:spPr>
      </p:pic>
      <p:pic>
        <p:nvPicPr>
          <p:cNvPr descr="New Water in the Aral Sea" id="267" name="Google Shape;267;p31"/>
          <p:cNvPicPr preferRelativeResize="0"/>
          <p:nvPr/>
        </p:nvPicPr>
        <p:blipFill rotWithShape="1">
          <a:blip r:embed="rId11">
            <a:alphaModFix/>
          </a:blip>
          <a:srcRect b="0" l="0" r="0" t="0"/>
          <a:stretch/>
        </p:blipFill>
        <p:spPr>
          <a:xfrm>
            <a:off x="5226771" y="3184549"/>
            <a:ext cx="1564903" cy="1043269"/>
          </a:xfrm>
          <a:prstGeom prst="rect">
            <a:avLst/>
          </a:prstGeom>
          <a:noFill/>
          <a:ln>
            <a:noFill/>
          </a:ln>
        </p:spPr>
      </p:pic>
      <p:sp>
        <p:nvSpPr>
          <p:cNvPr id="268" name="Google Shape;268;p31"/>
          <p:cNvSpPr/>
          <p:nvPr/>
        </p:nvSpPr>
        <p:spPr>
          <a:xfrm>
            <a:off x="5105460" y="2775218"/>
            <a:ext cx="1611554" cy="365485"/>
          </a:xfrm>
          <a:prstGeom prst="rect">
            <a:avLst/>
          </a:prstGeom>
          <a:noFill/>
          <a:ln>
            <a:noFill/>
          </a:ln>
        </p:spPr>
        <p:txBody>
          <a:bodyPr anchorCtr="0" anchor="t" bIns="9525" lIns="19050" spcFirstLastPara="1" rIns="19050" wrap="square" tIns="9525">
            <a:noAutofit/>
          </a:bodyPr>
          <a:lstStyle/>
          <a:p>
            <a:pPr indent="0" lvl="0" marL="0" marR="0" rtl="0" algn="ctr">
              <a:spcBef>
                <a:spcPts val="0"/>
              </a:spcBef>
              <a:spcAft>
                <a:spcPts val="0"/>
              </a:spcAft>
              <a:buNone/>
            </a:pPr>
            <a:r>
              <a:rPr b="1" lang="en-US" sz="1125">
                <a:solidFill>
                  <a:schemeClr val="dk1"/>
                </a:solidFill>
                <a:latin typeface="Calibri"/>
                <a:ea typeface="Calibri"/>
                <a:cs typeface="Calibri"/>
                <a:sym typeface="Calibri"/>
              </a:rPr>
              <a:t>Kokaral Dam, </a:t>
            </a:r>
            <a:endParaRPr/>
          </a:p>
          <a:p>
            <a:pPr indent="0" lvl="0" marL="0" marR="0" rtl="0" algn="ctr">
              <a:spcBef>
                <a:spcPts val="0"/>
              </a:spcBef>
              <a:spcAft>
                <a:spcPts val="0"/>
              </a:spcAft>
              <a:buNone/>
            </a:pPr>
            <a:r>
              <a:rPr b="1" lang="en-US" sz="1125">
                <a:solidFill>
                  <a:schemeClr val="dk1"/>
                </a:solidFill>
                <a:latin typeface="Calibri"/>
                <a:ea typeface="Calibri"/>
                <a:cs typeface="Calibri"/>
                <a:sym typeface="Calibri"/>
              </a:rPr>
              <a:t>World Bank Project 2005</a:t>
            </a:r>
            <a:endParaRPr/>
          </a:p>
        </p:txBody>
      </p:sp>
      <p:pic>
        <p:nvPicPr>
          <p:cNvPr descr="The Aral Sea Crisis" id="269" name="Google Shape;269;p31"/>
          <p:cNvPicPr preferRelativeResize="0"/>
          <p:nvPr/>
        </p:nvPicPr>
        <p:blipFill rotWithShape="1">
          <a:blip r:embed="rId12">
            <a:alphaModFix/>
          </a:blip>
          <a:srcRect b="0" l="0" r="0" t="0"/>
          <a:stretch/>
        </p:blipFill>
        <p:spPr>
          <a:xfrm>
            <a:off x="5022724" y="1628894"/>
            <a:ext cx="1654063" cy="1088710"/>
          </a:xfrm>
          <a:prstGeom prst="rect">
            <a:avLst/>
          </a:prstGeom>
          <a:noFill/>
          <a:ln>
            <a:noFill/>
          </a:ln>
        </p:spPr>
      </p:pic>
      <p:pic>
        <p:nvPicPr>
          <p:cNvPr descr="Muynak fishing port, Aral Sea, 1952 - Stock Image - T725/0133 - Science  Photo Library" id="270" name="Google Shape;270;p31"/>
          <p:cNvPicPr preferRelativeResize="0"/>
          <p:nvPr/>
        </p:nvPicPr>
        <p:blipFill rotWithShape="1">
          <a:blip r:embed="rId13">
            <a:alphaModFix/>
          </a:blip>
          <a:srcRect b="0" l="0" r="0" t="0"/>
          <a:stretch/>
        </p:blipFill>
        <p:spPr>
          <a:xfrm>
            <a:off x="3766678" y="1892383"/>
            <a:ext cx="1263812" cy="1105027"/>
          </a:xfrm>
          <a:prstGeom prst="rect">
            <a:avLst/>
          </a:prstGeom>
          <a:noFill/>
          <a:ln>
            <a:noFill/>
          </a:ln>
        </p:spPr>
      </p:pic>
      <p:sp>
        <p:nvSpPr>
          <p:cNvPr id="271" name="Google Shape;271;p31"/>
          <p:cNvSpPr/>
          <p:nvPr/>
        </p:nvSpPr>
        <p:spPr>
          <a:xfrm>
            <a:off x="3742923" y="4178940"/>
            <a:ext cx="4706153" cy="211596"/>
          </a:xfrm>
          <a:prstGeom prst="rect">
            <a:avLst/>
          </a:prstGeom>
          <a:noFill/>
          <a:ln>
            <a:noFill/>
          </a:ln>
        </p:spPr>
        <p:txBody>
          <a:bodyPr anchorCtr="0" anchor="t" bIns="9525" lIns="19050" spcFirstLastPara="1" rIns="19050" wrap="square" tIns="9525">
            <a:noAutofit/>
          </a:bodyPr>
          <a:lstStyle/>
          <a:p>
            <a:pPr indent="0" lvl="0" marL="0" marR="0" rtl="0" algn="ctr">
              <a:spcBef>
                <a:spcPts val="0"/>
              </a:spcBef>
              <a:spcAft>
                <a:spcPts val="0"/>
              </a:spcAft>
              <a:buNone/>
            </a:pPr>
            <a:r>
              <a:rPr b="1" lang="en-US" sz="1250">
                <a:solidFill>
                  <a:schemeClr val="dk1"/>
                </a:solidFill>
                <a:latin typeface="Calibri"/>
                <a:ea typeface="Calibri"/>
                <a:cs typeface="Calibri"/>
                <a:sym typeface="Calibri"/>
              </a:rPr>
              <a:t>Initial rise in water level and resurgence of fishing/community</a:t>
            </a:r>
            <a:endParaRPr/>
          </a:p>
        </p:txBody>
      </p:sp>
      <p:pic>
        <p:nvPicPr>
          <p:cNvPr id="272" name="Google Shape;272;p31"/>
          <p:cNvPicPr preferRelativeResize="0"/>
          <p:nvPr/>
        </p:nvPicPr>
        <p:blipFill rotWithShape="1">
          <a:blip r:embed="rId14">
            <a:alphaModFix/>
          </a:blip>
          <a:srcRect b="0" l="0" r="0" t="0"/>
          <a:stretch/>
        </p:blipFill>
        <p:spPr>
          <a:xfrm>
            <a:off x="5226770" y="4933028"/>
            <a:ext cx="1617306" cy="1924972"/>
          </a:xfrm>
          <a:prstGeom prst="rect">
            <a:avLst/>
          </a:prstGeom>
          <a:noFill/>
          <a:ln>
            <a:noFill/>
          </a:ln>
        </p:spPr>
      </p:pic>
      <p:pic>
        <p:nvPicPr>
          <p:cNvPr id="273" name="Google Shape;273;p31"/>
          <p:cNvPicPr preferRelativeResize="0"/>
          <p:nvPr/>
        </p:nvPicPr>
        <p:blipFill rotWithShape="1">
          <a:blip r:embed="rId15">
            <a:alphaModFix/>
          </a:blip>
          <a:srcRect b="0" l="0" r="0" t="0"/>
          <a:stretch/>
        </p:blipFill>
        <p:spPr>
          <a:xfrm>
            <a:off x="6860856" y="6076914"/>
            <a:ext cx="1504902" cy="788189"/>
          </a:xfrm>
          <a:prstGeom prst="rect">
            <a:avLst/>
          </a:prstGeom>
          <a:noFill/>
          <a:ln>
            <a:noFill/>
          </a:ln>
        </p:spPr>
      </p:pic>
      <p:pic>
        <p:nvPicPr>
          <p:cNvPr id="274" name="Google Shape;274;p31"/>
          <p:cNvPicPr preferRelativeResize="0"/>
          <p:nvPr/>
        </p:nvPicPr>
        <p:blipFill rotWithShape="1">
          <a:blip r:embed="rId16">
            <a:alphaModFix/>
          </a:blip>
          <a:srcRect b="0" l="0" r="0" t="0"/>
          <a:stretch/>
        </p:blipFill>
        <p:spPr>
          <a:xfrm>
            <a:off x="3948389" y="4917185"/>
            <a:ext cx="1153242" cy="968725"/>
          </a:xfrm>
          <a:prstGeom prst="rect">
            <a:avLst/>
          </a:prstGeom>
          <a:noFill/>
          <a:ln>
            <a:noFill/>
          </a:ln>
        </p:spPr>
      </p:pic>
      <p:sp>
        <p:nvSpPr>
          <p:cNvPr id="275" name="Google Shape;275;p31"/>
          <p:cNvSpPr/>
          <p:nvPr/>
        </p:nvSpPr>
        <p:spPr>
          <a:xfrm>
            <a:off x="3896459" y="4340919"/>
            <a:ext cx="4722395" cy="596317"/>
          </a:xfrm>
          <a:prstGeom prst="rect">
            <a:avLst/>
          </a:prstGeom>
          <a:noFill/>
          <a:ln>
            <a:noFill/>
          </a:ln>
        </p:spPr>
        <p:txBody>
          <a:bodyPr anchorCtr="0" anchor="t" bIns="9525" lIns="19050" spcFirstLastPara="1" rIns="19050" wrap="square" tIns="9525">
            <a:noAutofit/>
          </a:bodyPr>
          <a:lstStyle/>
          <a:p>
            <a:pPr indent="0" lvl="0" marL="0" marR="0" rtl="0" algn="ctr">
              <a:spcBef>
                <a:spcPts val="0"/>
              </a:spcBef>
              <a:spcAft>
                <a:spcPts val="0"/>
              </a:spcAft>
              <a:buNone/>
            </a:pPr>
            <a:r>
              <a:rPr b="1" lang="en-US" sz="1250">
                <a:solidFill>
                  <a:schemeClr val="dk1"/>
                </a:solidFill>
                <a:latin typeface="Calibri"/>
                <a:ea typeface="Calibri"/>
                <a:cs typeface="Calibri"/>
                <a:sym typeface="Calibri"/>
              </a:rPr>
              <a:t>Satellite Imagery🡪 Raster Analysis</a:t>
            </a:r>
            <a:endParaRPr/>
          </a:p>
          <a:p>
            <a:pPr indent="0" lvl="0" marL="0" marR="0" rtl="0" algn="ctr">
              <a:spcBef>
                <a:spcPts val="0"/>
              </a:spcBef>
              <a:spcAft>
                <a:spcPts val="0"/>
              </a:spcAft>
              <a:buNone/>
            </a:pPr>
            <a:r>
              <a:rPr b="1" lang="en-US" sz="1250">
                <a:solidFill>
                  <a:schemeClr val="dk1"/>
                </a:solidFill>
                <a:latin typeface="Calibri"/>
                <a:ea typeface="Calibri"/>
                <a:cs typeface="Calibri"/>
                <a:sym typeface="Calibri"/>
              </a:rPr>
              <a:t>Net decrease (~445 ft)  in coastline near Zhalanash from 2015-2021</a:t>
            </a:r>
            <a:endParaRPr/>
          </a:p>
          <a:p>
            <a:pPr indent="0" lvl="0" marL="0" marR="0" rtl="0" algn="ctr">
              <a:spcBef>
                <a:spcPts val="0"/>
              </a:spcBef>
              <a:spcAft>
                <a:spcPts val="0"/>
              </a:spcAft>
              <a:buNone/>
            </a:pPr>
            <a:r>
              <a:rPr b="1" lang="en-US" sz="1250">
                <a:solidFill>
                  <a:schemeClr val="dk1"/>
                </a:solidFill>
                <a:latin typeface="Calibri"/>
                <a:ea typeface="Calibri"/>
                <a:cs typeface="Calibri"/>
                <a:sym typeface="Calibri"/>
              </a:rPr>
              <a:t>Dam reached maximum effect in this area</a:t>
            </a:r>
            <a:endParaRPr b="1" sz="1250">
              <a:solidFill>
                <a:schemeClr val="dk1"/>
              </a:solidFill>
              <a:latin typeface="Calibri"/>
              <a:ea typeface="Calibri"/>
              <a:cs typeface="Calibri"/>
              <a:sym typeface="Calibri"/>
            </a:endParaRPr>
          </a:p>
        </p:txBody>
      </p:sp>
      <p:pic>
        <p:nvPicPr>
          <p:cNvPr id="276" name="Google Shape;276;p31"/>
          <p:cNvPicPr preferRelativeResize="0"/>
          <p:nvPr/>
        </p:nvPicPr>
        <p:blipFill rotWithShape="1">
          <a:blip r:embed="rId17">
            <a:alphaModFix/>
          </a:blip>
          <a:srcRect b="0" l="0" r="0" t="0"/>
          <a:stretch/>
        </p:blipFill>
        <p:spPr>
          <a:xfrm>
            <a:off x="3913497" y="5834409"/>
            <a:ext cx="1268693" cy="1007462"/>
          </a:xfrm>
          <a:prstGeom prst="rect">
            <a:avLst/>
          </a:prstGeom>
          <a:noFill/>
          <a:ln>
            <a:noFill/>
          </a:ln>
        </p:spPr>
      </p:pic>
      <p:grpSp>
        <p:nvGrpSpPr>
          <p:cNvPr id="277" name="Google Shape;277;p31"/>
          <p:cNvGrpSpPr/>
          <p:nvPr/>
        </p:nvGrpSpPr>
        <p:grpSpPr>
          <a:xfrm>
            <a:off x="6926620" y="4917185"/>
            <a:ext cx="1412785" cy="788189"/>
            <a:chOff x="7778974" y="2985569"/>
            <a:chExt cx="4413026" cy="3872431"/>
          </a:xfrm>
        </p:grpSpPr>
        <p:pic>
          <p:nvPicPr>
            <p:cNvPr id="278" name="Google Shape;278;p31"/>
            <p:cNvPicPr preferRelativeResize="0"/>
            <p:nvPr/>
          </p:nvPicPr>
          <p:blipFill rotWithShape="1">
            <a:blip r:embed="rId18">
              <a:alphaModFix/>
            </a:blip>
            <a:srcRect b="0" l="0" r="0" t="0"/>
            <a:stretch/>
          </p:blipFill>
          <p:spPr>
            <a:xfrm>
              <a:off x="7778974" y="2985569"/>
              <a:ext cx="4413026" cy="3872431"/>
            </a:xfrm>
            <a:prstGeom prst="rect">
              <a:avLst/>
            </a:prstGeom>
            <a:noFill/>
            <a:ln>
              <a:noFill/>
            </a:ln>
          </p:spPr>
        </p:pic>
        <p:cxnSp>
          <p:nvCxnSpPr>
            <p:cNvPr id="279" name="Google Shape;279;p31"/>
            <p:cNvCxnSpPr/>
            <p:nvPr/>
          </p:nvCxnSpPr>
          <p:spPr>
            <a:xfrm>
              <a:off x="9016181" y="3795252"/>
              <a:ext cx="1457093" cy="2208080"/>
            </a:xfrm>
            <a:prstGeom prst="straightConnector1">
              <a:avLst/>
            </a:prstGeom>
            <a:noFill/>
            <a:ln cap="flat" cmpd="sng" w="28575">
              <a:solidFill>
                <a:srgbClr val="FF0000"/>
              </a:solidFill>
              <a:prstDash val="solid"/>
              <a:miter lim="800000"/>
              <a:headEnd len="med" w="med" type="triangle"/>
              <a:tailEnd len="med" w="med" type="triangle"/>
            </a:ln>
          </p:spPr>
        </p:cxnSp>
        <p:sp>
          <p:nvSpPr>
            <p:cNvPr id="280" name="Google Shape;280;p31"/>
            <p:cNvSpPr/>
            <p:nvPr/>
          </p:nvSpPr>
          <p:spPr>
            <a:xfrm>
              <a:off x="10271503" y="5711768"/>
              <a:ext cx="906774" cy="966242"/>
            </a:xfrm>
            <a:prstGeom prst="ellipse">
              <a:avLst/>
            </a:prstGeom>
            <a:noFill/>
            <a:ln cap="flat" cmpd="sng" w="38100">
              <a:solidFill>
                <a:srgbClr val="FF0000"/>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75">
                <a:solidFill>
                  <a:schemeClr val="lt1"/>
                </a:solidFill>
                <a:latin typeface="Calibri"/>
                <a:ea typeface="Calibri"/>
                <a:cs typeface="Calibri"/>
                <a:sym typeface="Calibri"/>
              </a:endParaRPr>
            </a:p>
          </p:txBody>
        </p:sp>
      </p:grpSp>
      <p:pic>
        <p:nvPicPr>
          <p:cNvPr id="281" name="Google Shape;281;p31"/>
          <p:cNvPicPr preferRelativeResize="0"/>
          <p:nvPr/>
        </p:nvPicPr>
        <p:blipFill rotWithShape="1">
          <a:blip r:embed="rId19">
            <a:alphaModFix/>
          </a:blip>
          <a:srcRect b="0" l="0" r="0" t="0"/>
          <a:stretch/>
        </p:blipFill>
        <p:spPr>
          <a:xfrm>
            <a:off x="7516134" y="5724037"/>
            <a:ext cx="449301" cy="536621"/>
          </a:xfrm>
          <a:prstGeom prst="rect">
            <a:avLst/>
          </a:prstGeom>
          <a:noFill/>
          <a:ln>
            <a:noFill/>
          </a:ln>
        </p:spPr>
      </p:pic>
      <p:sp>
        <p:nvSpPr>
          <p:cNvPr id="282" name="Google Shape;282;p31"/>
          <p:cNvSpPr txBox="1"/>
          <p:nvPr/>
        </p:nvSpPr>
        <p:spPr>
          <a:xfrm>
            <a:off x="116751" y="314242"/>
            <a:ext cx="272453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Calibri"/>
                <a:ea typeface="Calibri"/>
                <a:cs typeface="Calibri"/>
                <a:sym typeface="Calibri"/>
              </a:rPr>
              <a:t>Poster: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